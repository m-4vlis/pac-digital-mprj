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dbe2e8522449a6" /><Relationship Type="http://schemas.openxmlformats.org/officeDocument/2006/relationships/extended-properties" Target="/docProps/app.xml" Id="R9e92813fd4a249b5" /><Relationship Type="http://schemas.openxmlformats.org/officeDocument/2006/relationships/officeDocument" Target="/ppt/presentation.xml" Id="R670ef05098874d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07a0fc267549f6"/>
  </p:sldMasterIdLst>
  <p:notesMasterIdLst>
    <p:notesMasterId xmlns:r="http://schemas.openxmlformats.org/officeDocument/2006/relationships" r:id="R1d86fae2765847b5"/>
  </p:notesMasterIdLst>
  <p:sldIdLst>
    <p:sldId xmlns:r="http://schemas.openxmlformats.org/officeDocument/2006/relationships" id="256" r:id="R0f2a86feb3ba4414"/>
    <p:sldId xmlns:r="http://schemas.openxmlformats.org/officeDocument/2006/relationships" id="257" r:id="R39934292f7814638"/>
    <p:sldId xmlns:r="http://schemas.openxmlformats.org/officeDocument/2006/relationships" id="258" r:id="R0b9caed5422a4ba4"/>
    <p:sldId xmlns:r="http://schemas.openxmlformats.org/officeDocument/2006/relationships" id="259" r:id="R8c4fc809f27b4dfb"/>
    <p:sldId xmlns:r="http://schemas.openxmlformats.org/officeDocument/2006/relationships" id="260" r:id="R721a93d053ac46c8"/>
    <p:sldId xmlns:r="http://schemas.openxmlformats.org/officeDocument/2006/relationships" id="261" r:id="R712bdc8d6e394135"/>
    <p:sldId xmlns:r="http://schemas.openxmlformats.org/officeDocument/2006/relationships" id="262" r:id="R6b9c2f0ae5cb4e03"/>
    <p:sldId xmlns:r="http://schemas.openxmlformats.org/officeDocument/2006/relationships" id="263" r:id="Ref69f3b6cc9847aa"/>
    <p:sldId xmlns:r="http://schemas.openxmlformats.org/officeDocument/2006/relationships" id="264" r:id="Ra040217ded81436f"/>
    <p:sldId xmlns:r="http://schemas.openxmlformats.org/officeDocument/2006/relationships" id="265" r:id="R2ead073121f842a2"/>
    <p:sldId xmlns:r="http://schemas.openxmlformats.org/officeDocument/2006/relationships" id="266" r:id="R57b4ec9ee3994758"/>
    <p:sldId xmlns:r="http://schemas.openxmlformats.org/officeDocument/2006/relationships" id="267" r:id="R2412b639a4494609"/>
    <p:sldId xmlns:r="http://schemas.openxmlformats.org/officeDocument/2006/relationships" id="268" r:id="R628984abb1aa410d"/>
    <p:sldId xmlns:r="http://schemas.openxmlformats.org/officeDocument/2006/relationships" id="269" r:id="R13d53819aaff461e"/>
    <p:sldId xmlns:r="http://schemas.openxmlformats.org/officeDocument/2006/relationships" id="270" r:id="R83c61ee737704080"/>
    <p:sldId xmlns:r="http://schemas.openxmlformats.org/officeDocument/2006/relationships" id="271" r:id="R97679d2d5b4540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f509d8fbf34e88" /><Relationship Type="http://schemas.openxmlformats.org/officeDocument/2006/relationships/slideMaster" Target="/ppt/slideMasters/slideMaster1.xml" Id="R3707a0fc267549f6" /><Relationship Type="http://schemas.openxmlformats.org/officeDocument/2006/relationships/notesMaster" Target="/ppt/notesMasters/notesMaster1.xml" Id="R1d86fae2765847b5" /><Relationship Type="http://schemas.openxmlformats.org/officeDocument/2006/relationships/presProps" Target="/ppt/presProps.xml" Id="Rf9575c926dae464d" /><Relationship Type="http://schemas.openxmlformats.org/officeDocument/2006/relationships/tableStyles" Target="/ppt/tableStyles.xml" Id="R10ef8f2212f2473b" /><Relationship Type="http://schemas.openxmlformats.org/officeDocument/2006/relationships/slide" Target="/ppt/slides/slide1.xml" Id="R0f2a86feb3ba4414" /><Relationship Type="http://schemas.openxmlformats.org/officeDocument/2006/relationships/slide" Target="/ppt/slides/slide2.xml" Id="R39934292f7814638" /><Relationship Type="http://schemas.openxmlformats.org/officeDocument/2006/relationships/slide" Target="/ppt/slides/slide3.xml" Id="R0b9caed5422a4ba4" /><Relationship Type="http://schemas.openxmlformats.org/officeDocument/2006/relationships/slide" Target="/ppt/slides/slide4.xml" Id="R8c4fc809f27b4dfb" /><Relationship Type="http://schemas.openxmlformats.org/officeDocument/2006/relationships/slide" Target="/ppt/slides/slide5.xml" Id="R721a93d053ac46c8" /><Relationship Type="http://schemas.openxmlformats.org/officeDocument/2006/relationships/slide" Target="/ppt/slides/slide6.xml" Id="R712bdc8d6e394135" /><Relationship Type="http://schemas.openxmlformats.org/officeDocument/2006/relationships/slide" Target="/ppt/slides/slide7.xml" Id="R6b9c2f0ae5cb4e03" /><Relationship Type="http://schemas.openxmlformats.org/officeDocument/2006/relationships/slide" Target="/ppt/slides/slide8.xml" Id="Ref69f3b6cc9847aa" /><Relationship Type="http://schemas.openxmlformats.org/officeDocument/2006/relationships/slide" Target="/ppt/slides/slide9.xml" Id="Ra040217ded81436f" /><Relationship Type="http://schemas.openxmlformats.org/officeDocument/2006/relationships/slide" Target="/ppt/slides/slide10.xml" Id="R2ead073121f842a2" /><Relationship Type="http://schemas.openxmlformats.org/officeDocument/2006/relationships/slide" Target="/ppt/slides/slide11.xml" Id="R57b4ec9ee3994758" /><Relationship Type="http://schemas.openxmlformats.org/officeDocument/2006/relationships/slide" Target="/ppt/slides/slide12.xml" Id="R2412b639a4494609" /><Relationship Type="http://schemas.openxmlformats.org/officeDocument/2006/relationships/slide" Target="/ppt/slides/slide13.xml" Id="R628984abb1aa410d" /><Relationship Type="http://schemas.openxmlformats.org/officeDocument/2006/relationships/slide" Target="/ppt/slides/slide14.xml" Id="R13d53819aaff461e" /><Relationship Type="http://schemas.openxmlformats.org/officeDocument/2006/relationships/slide" Target="/ppt/slides/slide15.xml" Id="R83c61ee737704080" /><Relationship Type="http://schemas.openxmlformats.org/officeDocument/2006/relationships/slide" Target="/ppt/slides/slide16.xml" Id="R97679d2d5b4540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fe6a93e8f64d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6c518e8fdb4286" /><Relationship Type="http://schemas.openxmlformats.org/officeDocument/2006/relationships/notesMaster" Target="/ppt/notesMasters/notesMaster1.xml" Id="R3fc70a2d393c4c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85153ed3344993" /><Relationship Type="http://schemas.openxmlformats.org/officeDocument/2006/relationships/notesMaster" Target="/ppt/notesMasters/notesMaster1.xml" Id="Re06dcb16a32a45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ed5959ca644277" /><Relationship Type="http://schemas.openxmlformats.org/officeDocument/2006/relationships/notesMaster" Target="/ppt/notesMasters/notesMaster1.xml" Id="R4fe28fc8d8ea46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1f09eb37a8499b" /><Relationship Type="http://schemas.openxmlformats.org/officeDocument/2006/relationships/notesMaster" Target="/ppt/notesMasters/notesMaster1.xml" Id="R19714ac68eab49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6594e0cf024722" /><Relationship Type="http://schemas.openxmlformats.org/officeDocument/2006/relationships/notesMaster" Target="/ppt/notesMasters/notesMaster1.xml" Id="R0c83fa23042749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63d13439e843fd" /><Relationship Type="http://schemas.openxmlformats.org/officeDocument/2006/relationships/notesMaster" Target="/ppt/notesMasters/notesMaster1.xml" Id="Rccd3bd20ebd94c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ba637ef6634898" /><Relationship Type="http://schemas.openxmlformats.org/officeDocument/2006/relationships/notesMaster" Target="/ppt/notesMasters/notesMaster1.xml" Id="R04899c49a69a47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c987e5e7f24518" /><Relationship Type="http://schemas.openxmlformats.org/officeDocument/2006/relationships/notesMaster" Target="/ppt/notesMasters/notesMaster1.xml" Id="Rb029f94b38974b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172d754f094ce5" /><Relationship Type="http://schemas.openxmlformats.org/officeDocument/2006/relationships/notesMaster" Target="/ppt/notesMasters/notesMaster1.xml" Id="R1f7c6a640b0e4d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8a1f15d6fa4314" /><Relationship Type="http://schemas.openxmlformats.org/officeDocument/2006/relationships/notesMaster" Target="/ppt/notesMasters/notesMaster1.xml" Id="R7771d570357445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125c959bc840e4" /><Relationship Type="http://schemas.openxmlformats.org/officeDocument/2006/relationships/notesMaster" Target="/ppt/notesMasters/notesMaster1.xml" Id="R9ce3b4cb92ee4b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ffffca826c48cc" /><Relationship Type="http://schemas.openxmlformats.org/officeDocument/2006/relationships/notesMaster" Target="/ppt/notesMasters/notesMaster1.xml" Id="R00e7d9a3e45544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82e5cf76b44da6" /><Relationship Type="http://schemas.openxmlformats.org/officeDocument/2006/relationships/notesMaster" Target="/ppt/notesMasters/notesMaster1.xml" Id="R561d5615b60643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d68216fdda4b91" /><Relationship Type="http://schemas.openxmlformats.org/officeDocument/2006/relationships/notesMaster" Target="/ppt/notesMasters/notesMaster1.xml" Id="R0148a487ccd041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18b27e80234552" /><Relationship Type="http://schemas.openxmlformats.org/officeDocument/2006/relationships/notesMaster" Target="/ppt/notesMasters/notesMaster1.xml" Id="R26ab04a321b94e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deb0bfd35e4544" /><Relationship Type="http://schemas.openxmlformats.org/officeDocument/2006/relationships/notesMaster" Target="/ppt/notesMasters/notesMaster1.xml" Id="Rd24acaf129bc40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abrir com a tese central.</a:t>
            </a:r>
          </a:p>
          <a:p xmlns:a="http://schemas.openxmlformats.org/drawingml/2006/main">
            <a:r>
              <a:t>Fala sugerida: “O PAC Digital transforma o Plano Anual de Contratações de um documento estático em uma carteira viva. A liderança passa a acompanhar valor, prazo, risco, alterações e execução; as unidades registram necessidades com padrão; e a instituição preserva a memória das decisões.”</a:t>
            </a:r>
          </a:p>
          <a:p xmlns:a="http://schemas.openxmlformats.org/drawingml/2006/main">
            <a:r>
              <a:t>Transição: antes de ver telas, alinhe três conceitos.</a:t>
            </a:r>
          </a:p>
          <a:p xmlns:a="http://schemas.openxmlformats.org/drawingml/2006/main">
            <a:r>
              <a:t>Atenção: diga “pronto para homologação”, não “pronto para produção irrestrita”.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dar vocabulário mínimo a quem nunca participou do projeto.</a:t>
            </a:r>
          </a:p>
          <a:p xmlns:a="http://schemas.openxmlformats.org/drawingml/2006/main">
            <a:r>
              <a:t>Fala sugerida: “PAC é o plano anual consolidado. DFD é o documento que descreve cada necessidade. A carteira é o mecanismo de gestão contínua que acompanha o item do registro até a execução. O sistema une essas três camadas sem confundi-las.”</a:t>
            </a:r>
          </a:p>
          <a:p xmlns:a="http://schemas.openxmlformats.org/drawingml/2006/main">
            <a:r>
              <a:t>Transição: quando essas camadas ficam espalhadas, a gestão perde tempo e contexto.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https://www.mprj.mp.br/documents/20184/2156686/consolidado_2326.pdf/6afeaac9-695c-50ea-6ac6-5e62cb830744?t=1633441582621</a:t>
            </a:r>
          </a:p>
          <a:p xmlns:a="http://schemas.openxmlformats.org/drawingml/2006/main">
            <a:r>
              <a:t>- https://github.com/M-4vlis/PAC-Digital-MPRJ/blob/main/docs/34-matriz-requisitos-pac-dfd.md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mostrar o problema administrativo, não atacar ferramentas existentes.</a:t>
            </a:r>
          </a:p>
          <a:p xmlns:a="http://schemas.openxmlformats.org/drawingml/2006/main">
            <a:r>
              <a:t>Fala sugerida: “A planilha é útil para registrar. O problema surge quando precisamos governar versões, aprovações, risco, execução e integrações. Sem uma carteira única, o dado chega fragmentado, o risco aparece tarde e as decisões perdem contexto.”</a:t>
            </a:r>
          </a:p>
          <a:p xmlns:a="http://schemas.openxmlformats.org/drawingml/2006/main">
            <a:r>
              <a:t>Transição: a proposta é um ciclo único e auditável.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https://github.com/M-4vlis/PAC-Digital-MPRJ/blob/main/docs/29-visao-executiva-v1-rc.md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explicar o fluxo ponta a ponta.</a:t>
            </a:r>
          </a:p>
          <a:p xmlns:a="http://schemas.openxmlformats.org/drawingml/2006/main">
            <a:r>
              <a:t>Fala sugerida: “A unidade registra a necessidade; a governança valida; as autoridades aprovam conforme o fluxo; a execução acompanha processo e marcos; e a publicação expõe somente o snapshot aprovado e minimizado. Em qualquer etapa, a trilha anterior permanece.”</a:t>
            </a:r>
          </a:p>
          <a:p xmlns:a="http://schemas.openxmlformats.org/drawingml/2006/main">
            <a:r>
              <a:t>Transição: comece pelo ponto de entrada do usuário: o DFD.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https://github.com/M-4vlis/PAC-Digital-MPRJ/blob/main/README.md</a:t>
            </a:r>
          </a:p>
          <a:p xmlns:a="http://schemas.openxmlformats.org/drawingml/2006/main">
            <a:r>
              <a:t>- https://github.com/M-4vlis/PAC-Digital-MPRJ/blob/main/docs/33-revisao-prontidao-institucional.md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provar que os problemas de usabilidade e completude do cadastro foram tratados.</a:t>
            </a:r>
          </a:p>
          <a:p xmlns:a="http://schemas.openxmlformats.org/drawingml/2006/main">
            <a:r>
              <a:t>Fala sugerida: “A RC2 ampliou o DFD conforme o art. 2º da Resolução GPGJ nº 2.326/2020. O valor é calculado por quantidade e valor unitário, o requisitante pode corrigir o rascunho criando nova versão, retirar cadastro indevido com justificativa e anexar o documento enquanto o SEI não estiver integrado.”</a:t>
            </a:r>
          </a:p>
          <a:p xmlns:a="http://schemas.openxmlformats.org/drawingml/2006/main">
            <a:r>
              <a:t>Atenção: retirada é exclusão lógica; o histórico não é apagado.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https://www.mprj.mp.br/documents/20184/2156686/consolidado_2326.pdf/6afeaac9-695c-50ea-6ac6-5e62cb830744?t=1633441582621</a:t>
            </a:r>
          </a:p>
          <a:p xmlns:a="http://schemas.openxmlformats.org/drawingml/2006/main">
            <a:r>
              <a:t>- https://github.com/M-4vlis/PAC-Digital-MPRJ/blob/main/docs/34-matriz-requisitos-pac-dfd.md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conectar o produto à decisão do Secretário-Geral.</a:t>
            </a:r>
          </a:p>
          <a:p xmlns:a="http://schemas.openxmlformats.org/drawingml/2006/main">
            <a:r>
              <a:t>Fala sugerida: “A primeira tela responde onde a gestão precisa agir. Planejamento, execução, alterações e risco aparecem juntos. O painel não substitui a análise humana; ele organiza prioridades e permite chegar ao detalhe e à evidência.”</a:t>
            </a:r>
          </a:p>
          <a:p xmlns:a="http://schemas.openxmlformats.org/drawingml/2006/main">
            <a:r>
              <a:t>Transição: a antecipação ocorre pelo risco explicável e pelo retroplanejamento.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https://github.com/M-4vlis/PAC-Digital-MPRJ/blob/main/README.md</a:t>
            </a:r>
          </a:p>
          <a:p xmlns:a="http://schemas.openxmlformats.org/drawingml/2006/main">
            <a:r>
              <a:t>- https://github.com/M-4vlis/PAC-Digital-MPRJ/blob/main/docs/29-visao-executiva-v1-rc.md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explicar o motor de risco sem sugerir norma ou inteligência opaca.</a:t>
            </a:r>
          </a:p>
          <a:p xmlns:a="http://schemas.openxmlformats.org/drawingml/2006/main">
            <a:r>
              <a:t>Fala sugerida: “A data desejada é trazida para trás em marcos configuráveis. O sistema mostra por que sinalizou risco: estado, prazo restante, ausência de catálogo, vínculo SEI ou referência histórica válida. Os parâmetros são gerenciais, configuráveis e precisam de homologação.”</a:t>
            </a:r>
          </a:p>
          <a:p xmlns:a="http://schemas.openxmlformats.org/drawingml/2006/main">
            <a:r>
              <a:t>Atenção: nunca chamar esses prazos de legais ou oficiais.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https://github.com/M-4vlis/PAC-Digital-MPRJ/blob/main/docs/33-revisao-prontidao-institucional.md</a:t>
            </a:r>
          </a:p>
          <a:p xmlns:a="http://schemas.openxmlformats.org/drawingml/2006/main">
            <a:r>
              <a:t>- https://github.com/M-4vlis/PAC-Digital-MPRJ/blob/main/STATUS.md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demonstrar que alteração não apaga o passado.</a:t>
            </a:r>
          </a:p>
          <a:p xmlns:a="http://schemas.openxmlformats.org/drawingml/2006/main">
            <a:r>
              <a:t>Fala sugerida: “Uma revisão aprovada cria nova versão. A adequação pós-LOA preserva valor original, revisado, ajustado e justificativa. Planejamento e execução têm estados independentes. Cada decisão registra ator, papel, momento e consequência.”</a:t>
            </a:r>
          </a:p>
          <a:p xmlns:a="http://schemas.openxmlformats.org/drawingml/2006/main">
            <a:r>
              <a:t>Transição: essa governança também vale para o uso de dados externos.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https://github.com/M-4vlis/PAC-Digital-MPRJ/blob/main/docs/33-revisao-prontidao-institucional.md</a:t>
            </a:r>
          </a:p>
          <a:p xmlns:a="http://schemas.openxmlformats.org/drawingml/2006/main">
            <a:r>
              <a:t>- https://github.com/M-4vlis/PAC-Digital-MPRJ/blob/main/README.md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posicionar a inteligência PNCP como evidência pública, com prudência estatística.</a:t>
            </a:r>
          </a:p>
          <a:p xmlns:a="http://schemas.openxmlformats.org/drawingml/2006/main">
            <a:r>
              <a:t>Fala sugerida: “A população importada tem 966 contratos públicos do MPRJ. Apenas nove possuem as datas necessárias para calcular a duração observada da fase pública. Como a cobertura é 0,93%, os percentis são exploratórios e não alteram o risco. O bloqueio técnico exige pelo menos 30 observações válidas na mesma categoria.”</a:t>
            </a:r>
          </a:p>
          <a:p xmlns:a="http://schemas.openxmlformats.org/drawingml/2006/main">
            <a:r>
              <a:t>Atenção: a sincronização de 29/09/2026 terminou parcial após HTTP 429 do PNCP; isso não autoriza preencher lacunas por inferência.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https://github.com/M-4vlis/PAC-Digital-MPRJ/blob/main/docs/35-metodologia-inteligencia-pncp.md</a:t>
            </a:r>
          </a:p>
          <a:p xmlns:a="http://schemas.openxmlformats.org/drawingml/2006/main">
            <a:r>
              <a:t>- https://pncp.gov.br/manual/pt-br/latest/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responder claramente às dúvidas 966 versus 9 e P75.</a:t>
            </a:r>
          </a:p>
          <a:p xmlns:a="http://schemas.openxmlformats.org/drawingml/2006/main">
            <a:r>
              <a:t>Fala sugerida: “966 é a população de contratos importados. Nove é a amostra que tem publicação da contratação e assinatura do contrato. P50, P75 e P90 são calculados apenas sobre esses nove casos. P75 significa que 75% dos casos observados terminaram até aquele número de dias; 25% demoraram mais. Não é meta nem prazo normativo.”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https://github.com/M-4vlis/PAC-Digital-MPRJ/blob/main/docs/35-metodologia-inteligencia-pncp.md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dizer exatamente o que existe e o que ainda não existe nas integrações.</a:t>
            </a:r>
          </a:p>
          <a:p xmlns:a="http://schemas.openxmlformats.org/drawingml/2006/main">
            <a:r>
              <a:t>Fala sugerida: “Identidade: há fronteira OIDC/LDAP, mas o login institucional ainda não está conectado. SEI: há vínculo local e plano de integração, mas não existe cliente SOAP ativo. PNCP: há coleta pública e pré-validação do payload PCA, mas não há POST nem credencial. Transparência: o snapshot é publicado; o hash fica como evidência técnica interna, não na tela de negócio.”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https://github.com/M-4vlis/PAC-Digital-MPRJ/blob/main/docs/36-guia-tecnico-integracoes.md</a:t>
            </a:r>
          </a:p>
          <a:p xmlns:a="http://schemas.openxmlformats.org/drawingml/2006/main">
            <a:r>
              <a:t>- https://pncp.gov.br/manual/pt-br/latest/plano_de_contratacao/inserir_plano_de_contratacoes.html</a:t>
            </a:r>
          </a:p>
          <a:p xmlns:a="http://schemas.openxmlformats.org/drawingml/2006/main">
            <a:r>
              <a:t>- https://manuais.processoeletronico.gov.br/pt-br/latest/SEIADM/Administracao_sei/Man_Adm_SEI_04-Administra%C3%A7%C3%A3o_SEI-11_Sistemas.html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apresentar evidências técnicas em linguagem executiva.</a:t>
            </a:r>
          </a:p>
          <a:p xmlns:a="http://schemas.openxmlformats.org/drawingml/2006/main">
            <a:r>
              <a:t>Fala sugerida: “A RC2 passou em 13 testes; o frontend foi compilado; a cadeia de banco foi aplicada do zero; backup e restauração foram comprovados; e as transmissões externas permanecem bloqueadas. A arquitetura usa componentes abertos e pode migrar da VPS de demonstração para a infraestrutura institucional.”</a:t>
            </a:r>
          </a:p>
          <a:p xmlns:a="http://schemas.openxmlformats.org/drawingml/2006/main">
            <a:r>
              <a:t>Atenção: a VPS atual não é produção institucional.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https://github.com/M-4vlis/PAC-Digital-MPRJ/blob/main/STATUS.md</a:t>
            </a:r>
          </a:p>
          <a:p xmlns:a="http://schemas.openxmlformats.org/drawingml/2006/main">
            <a:r>
              <a:t>- https://github.com/M-4vlis/PAC-Digital-MPRJ/blob/main/RELEASE-CHECKLIST.md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separar produto concluído de autorização institucional.</a:t>
            </a:r>
          </a:p>
          <a:p xmlns:a="http://schemas.openxmlformats.org/drawingml/2006/main">
            <a:r>
              <a:t>Fala sugerida: “O ciclo de negócio está demonstrável e testado. O que falta não pode ser inventado pelo projeto: identidade institucional, perfis e unidades oficiais, WSDL e credenciais do SEI, credencial e homologação do PNCP, domínio, storage, monitoração e aceite das áreas.”</a:t>
            </a:r>
          </a:p>
          <a:p xmlns:a="http://schemas.openxmlformats.org/drawingml/2006/main">
            <a:r>
              <a:t>Transição: a demonstração deve terminar transformando essas dependências em uma decisão objetiva.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https://github.com/M-4vlis/PAC-Digital-MPRJ/blob/main/STATUS.md</a:t>
            </a:r>
          </a:p>
          <a:p xmlns:a="http://schemas.openxmlformats.org/drawingml/2006/main">
            <a:r>
              <a:t>- https://github.com/M-4vlis/PAC-Digital-MPRJ/blob/main/RELEASE-CHECKLIST.md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orientar a demonstração ao vivo.</a:t>
            </a:r>
          </a:p>
          <a:p xmlns:a="http://schemas.openxmlformats.org/drawingml/2006/main">
            <a:r>
              <a:t>Fala sugerida: “Comece pela Visão Executiva e responda onde agir. Vá à Carteira e mostre o que será contratado. Abra uma demanda de risco alto e responda por que há risco. Mostre Integrações para separar o que está preparado do que está ativo. Termine em Governança, mostrando quem decidiu e qual evidência ficou.”</a:t>
            </a:r>
          </a:p>
          <a:p xmlns:a="http://schemas.openxmlformats.org/drawingml/2006/main">
            <a:r>
              <a:t>Plano B: se a internet falhar, use o deck e os relatórios PDF/XLSX previamente baixados.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https://github.com/M-4vlis/PAC-Digital-MPRJ/blob/main/docs/ROTEIRO-DEMONSTRACAO.md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formular o pedido executivo.</a:t>
            </a:r>
          </a:p>
          <a:p xmlns:a="http://schemas.openxmlformats.org/drawingml/2006/main">
            <a:r>
              <a:t>Fala sugerida: “A decisão solicitada não é entrada imediata em produção. É autorizar a homologação institucional com responsáveis, ambiente e critérios de aceite. Em 30 dias, regras e identidade; até 60, SEI e PNCP em teste; até 90, piloto controlado e decisão de entrada.”</a:t>
            </a:r>
          </a:p>
          <a:p xmlns:a="http://schemas.openxmlformats.org/drawingml/2006/main">
            <a:r>
              <a:t>Atenção: o calendário é proposta de trabalho, sujeito à disponibilidade das áreas e ambientes.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https://github.com/M-4vlis/PAC-Digital-MPRJ/blob/main/docs/30-plano-homologacao-institucional.md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encerrar retomando a tese e pedindo uma decisão.</a:t>
            </a:r>
          </a:p>
          <a:p xmlns:a="http://schemas.openxmlformats.org/drawingml/2006/main">
            <a:r>
              <a:t>Fala sugerida: “O PAC Digital já demonstra como sair da planilha e chegar a uma gestão contínua, auditável e integrável. A decisão que proponho é autorizar a homologação institucional da RC2, designar responsáveis e abrir os ambientes necessários para identidade, SEI e PNCP.”</a:t>
            </a:r>
          </a:p>
          <a:p xmlns:a="http://schemas.openxmlformats.org/drawingml/2006/main">
            <a:r>
              <a:t>Pare após o pedido e aguarde perguntas.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https://github.com/M-4vlis/PAC-Digital-MPRJ/blob/main/docs/29-visao-executiva-v1-rc.md</a:t>
            </a:r>
          </a:p>
          <a:p xmlns:a="http://schemas.openxmlformats.org/drawingml/2006/main">
            <a:r>
              <a:t>- https://github.com/M-4vlis/PAC-Digital-MPRJ/blob/main/docs/30-plano-homologacao-institucional.md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e3b7be8d84b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e504de95074b05" /><Relationship Type="http://schemas.openxmlformats.org/officeDocument/2006/relationships/slideLayout" Target="/ppt/slideLayouts/slideLayout1.xml" Id="R5052b004ded142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52b004ded142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82002c65f40c6" /><Relationship Type="http://schemas.openxmlformats.org/officeDocument/2006/relationships/image" Target="/ppt/media/image.png" Id="Rd40c6df3a7524f82" /><Relationship Type="http://schemas.openxmlformats.org/officeDocument/2006/relationships/notesSlide" Target="/ppt/notesSlides/notesSlide1.xml" Id="R2e0f86630ed742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f131542394ee2" /><Relationship Type="http://schemas.openxmlformats.org/officeDocument/2006/relationships/image" Target="/ppt/media/image2.png" Id="Rc7dbe664fb074d01" /><Relationship Type="http://schemas.openxmlformats.org/officeDocument/2006/relationships/notesSlide" Target="/ppt/notesSlides/notesSlide2.xml" Id="R9a0ca96ff3b448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9ad5777a5429d" /><Relationship Type="http://schemas.openxmlformats.org/officeDocument/2006/relationships/image" Target="/ppt/media/image2.png" Id="Rdce17674edf7447b" /><Relationship Type="http://schemas.openxmlformats.org/officeDocument/2006/relationships/notesSlide" Target="/ppt/notesSlides/notesSlide3.xml" Id="Ra12aaa0e53744e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5a3e1bda540ff" /><Relationship Type="http://schemas.openxmlformats.org/officeDocument/2006/relationships/image" Target="/ppt/media/image3.png" Id="Re8926a48339b426e" /><Relationship Type="http://schemas.openxmlformats.org/officeDocument/2006/relationships/notesSlide" Target="/ppt/notesSlides/notesSlide4.xml" Id="R82d09ad707d746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184ab3d924b34" /><Relationship Type="http://schemas.openxmlformats.org/officeDocument/2006/relationships/image" Target="/ppt/media/image4.png" Id="R7ebd4a3e43724a22" /><Relationship Type="http://schemas.openxmlformats.org/officeDocument/2006/relationships/notesSlide" Target="/ppt/notesSlides/notesSlide5.xml" Id="R9156cdabc5cf40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d34227fd946ed" /><Relationship Type="http://schemas.openxmlformats.org/officeDocument/2006/relationships/image" Target="/ppt/media/image5.png" Id="R3cc2672b72e24fc1" /><Relationship Type="http://schemas.openxmlformats.org/officeDocument/2006/relationships/notesSlide" Target="/ppt/notesSlides/notesSlide6.xml" Id="R37c6083f334c40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69a9e5e5e423b" /><Relationship Type="http://schemas.openxmlformats.org/officeDocument/2006/relationships/image" Target="/ppt/media/image6.png" Id="R2a158cd2482249bf" /><Relationship Type="http://schemas.openxmlformats.org/officeDocument/2006/relationships/notesSlide" Target="/ppt/notesSlides/notesSlide7.xml" Id="R572ee27dd48742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39371e3bd4e46" /><Relationship Type="http://schemas.openxmlformats.org/officeDocument/2006/relationships/image" Target="/ppt/media/image7.png" Id="R61f21aeac6d440b5" /><Relationship Type="http://schemas.openxmlformats.org/officeDocument/2006/relationships/notesSlide" Target="/ppt/notesSlides/notesSlide8.xml" Id="Re5a19e3d362640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dcf6bb5fa48e1" /><Relationship Type="http://schemas.openxmlformats.org/officeDocument/2006/relationships/image" Target="/ppt/media/image8.png" Id="Re59d4316ebb84025" /><Relationship Type="http://schemas.openxmlformats.org/officeDocument/2006/relationships/notesSlide" Target="/ppt/notesSlides/notesSlide9.xml" Id="R9dbee40b96e741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225a4d748403b" /><Relationship Type="http://schemas.openxmlformats.org/officeDocument/2006/relationships/image" Target="/ppt/media/image4.png" Id="R6aff87c81ddd4bfe" /><Relationship Type="http://schemas.openxmlformats.org/officeDocument/2006/relationships/notesSlide" Target="/ppt/notesSlides/notesSlide10.xml" Id="R7907c1d0722f4c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8c502372e450a" /><Relationship Type="http://schemas.openxmlformats.org/officeDocument/2006/relationships/image" Target="/ppt/media/image9.png" Id="R3eecde3dc5fc48fe" /><Relationship Type="http://schemas.openxmlformats.org/officeDocument/2006/relationships/notesSlide" Target="/ppt/notesSlides/notesSlide11.xml" Id="Rabc33deb9ba14b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e325fd99e4d15" /><Relationship Type="http://schemas.openxmlformats.org/officeDocument/2006/relationships/image" Target="/ppt/media/image10.png" Id="Rbae372301f124926" /><Relationship Type="http://schemas.openxmlformats.org/officeDocument/2006/relationships/notesSlide" Target="/ppt/notesSlides/notesSlide12.xml" Id="R563620a7e39945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096e8d3ea4a90" /><Relationship Type="http://schemas.openxmlformats.org/officeDocument/2006/relationships/image" Target="/ppt/media/image11.png" Id="R3a8033a454a143d2" /><Relationship Type="http://schemas.openxmlformats.org/officeDocument/2006/relationships/notesSlide" Target="/ppt/notesSlides/notesSlide13.xml" Id="R8f0605ace40e48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ecaece421486e" /><Relationship Type="http://schemas.openxmlformats.org/officeDocument/2006/relationships/image" Target="/ppt/media/image6.png" Id="R3de413bfbbe24672" /><Relationship Type="http://schemas.openxmlformats.org/officeDocument/2006/relationships/notesSlide" Target="/ppt/notesSlides/notesSlide14.xml" Id="R44e6bf6aa22d48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4164cd56f43b1" /><Relationship Type="http://schemas.openxmlformats.org/officeDocument/2006/relationships/image" Target="/ppt/media/image12.png" Id="R1e086adf68ce456c" /><Relationship Type="http://schemas.openxmlformats.org/officeDocument/2006/relationships/notesSlide" Target="/ppt/notesSlides/notesSlide15.xml" Id="Rfddbd591c47248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5f541d5184131" /><Relationship Type="http://schemas.openxmlformats.org/officeDocument/2006/relationships/image" Target="/ppt/media/image13.png" Id="Rcc8c606623354550" /><Relationship Type="http://schemas.openxmlformats.org/officeDocument/2006/relationships/notesSlide" Target="/ppt/notesSlides/notesSlide16.xml" Id="R9da220dbb57d4e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2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4B157-96B1-4934-89CB-1FDCB621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c6df3a7524f82"/>
          <a:stretch xmlns:a="http://schemas.openxmlformats.org/drawingml/2006/main"/>
        </p:blipFill>
        <p:spPr>
          <a:xfrm xmlns:a="http://schemas.openxmlformats.org/drawingml/2006/main">
            <a:off x="685800" y="517916"/>
            <a:ext cx="1952625" cy="59294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54461-E403-4410-9121-56B94C0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9A3A"/>
                </a:solidFill>
              </a:defRPr>
            </a:pPr>
            <a:r>
              <a:rPr sz="1350" b="1">
                <a:solidFill>
                  <a:srgbClr val="C49A3A"/>
                </a:solidFill>
              </a:rPr>
              <a:t>PAC DIGITAL MPRJ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E75CD-8471-4B6D-A0A0-C332E971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Planejamento que vira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governança, decisão e execução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EC327-2E13-48E2-BCF2-841F0106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7D5DB"/>
                </a:solidFill>
              </a:defRPr>
            </a:pPr>
            <a:r>
              <a:rPr sz="1575" b="0">
                <a:solidFill>
                  <a:srgbClr val="E7D5DB"/>
                </a:solidFill>
              </a:rPr>
              <a:t>Candidata v1.0 RC2 • apresentação executiva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59B99-D757-4C8A-B6FB-8E76EF41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5049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B3D13-8A1E-4467-B453-7B6A4EBD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OPEN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D098C-1A28-4805-B893-6AE6274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1257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8D01A-1A08-4CCE-B5D4-E2E2A649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PORTÁTIL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D6B1D-F393-4595-83B6-B9592C2F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67300"/>
            <a:ext cx="1657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BDFA4-B70F-4B43-BA27-0667BFB2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673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INTEGRÁVEL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6419F-A98B-4D3E-B3EC-2F9EA230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DB6BE"/>
                </a:solidFill>
              </a:defRPr>
            </a:pPr>
            <a:r>
              <a:rPr sz="900" b="0">
                <a:solidFill>
                  <a:srgbClr val="CDB6BE"/>
                </a:solidFill>
              </a:rPr>
              <a:t>Ambiente demonstrativo controlado • carteira fictícia</a:t>
            </a:r>
          </a:p>
        </p:txBody>
      </p:sp>
    </p:spTree>
    <p:extLst>
      <p:ext uri="{BB962C8B-B14F-4D97-AF65-F5344CB8AC3E}">
        <p14:creationId xmlns:p14="http://schemas.microsoft.com/office/powerpoint/2010/main" val="1574282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80B42-EA05-4AD4-AD37-7509A996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be664fb074d01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24528-7DB9-4C1E-AA9B-01EDF59C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CONCEITOS ESSENCIAIS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C028A-F4C6-45BE-889E-C922B23C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ADCF6-BF17-4694-B792-D4F836E5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ANTES DA DEMONSTRAÇÃO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12D3A-DF40-4064-9EF4-F965E0F8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PAC, DFD e carteira: três camadas do mesmo ciclo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72FFF-38E4-444A-9FA8-FAA8033A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O plano organiza o exercício; o DFD estrutura a necessidade; a carteira governa decisões e execução.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988E2-BAFE-4D63-B01B-1E48625D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238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E2AE8-7EC0-4476-9C1A-A1D91D13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6200" cy="1943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383D"/>
          </a:solidFill>
          <a:ln xmlns:a="http://schemas.openxmlformats.org/drawingml/2006/main" w="0">
            <a:solidFill>
              <a:srgbClr val="A238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015CB-39F8-4B84-AE17-EF06D346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PLANO ANUAL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64F7D-1E1D-4CEB-BCAD-0546ACF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A2383D"/>
                </a:solidFill>
              </a:defRPr>
            </a:pPr>
            <a:r>
              <a:rPr sz="2325" b="1">
                <a:solidFill>
                  <a:srgbClr val="A2383D"/>
                </a:solidFill>
              </a:rPr>
              <a:t>PAC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452FC-CB4E-4604-9C34-43F45215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Visão consolidada das contratações previstas no exercício.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C4400-2649-4C3E-B3E8-2676B978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ECF67-1EF4-4FB0-9DE4-1FAAF171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76200" cy="1943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DBDA1-2252-4EA3-9C39-5A9FEF35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05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REGISTRO DA NECESSIDADE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33AD9-15AE-4008-BE8B-F2A95924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90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DFD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58C80-8C97-49C1-B609-72F6859E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243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Objeto, justificativa, quantidade, valor, período e responsável.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38BAA-450A-4B1F-A8DC-30D291DB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238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FCB03-DDE0-47D9-B261-34CEF3EA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76200" cy="1943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72"/>
          </a:solidFill>
          <a:ln xmlns:a="http://schemas.openxmlformats.org/drawingml/2006/main" w="0">
            <a:solidFill>
              <a:srgbClr val="315B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8A1B9-5194-4C45-A750-F9A3AFA6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05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GESTÃO CONTÍNUA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B28D2-E512-48FA-A0B3-E89CCE9D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90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15B72"/>
                </a:solidFill>
              </a:defRPr>
            </a:pPr>
            <a:r>
              <a:rPr sz="2325" b="1">
                <a:solidFill>
                  <a:srgbClr val="315B72"/>
                </a:solidFill>
              </a:rPr>
              <a:t>Carteira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7F582-A333-4E0C-97F3-645873D3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243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Risco, revisão, aprovação, execução e histórico preservado.</a:t>
            </a:r>
          </a:p>
        </p:txBody>
      </p:sp>
    </p:spTree>
    <p:extLst>
      <p:ext uri="{BB962C8B-B14F-4D97-AF65-F5344CB8AC3E}">
        <p14:creationId xmlns:p14="http://schemas.microsoft.com/office/powerpoint/2010/main" val="901132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80B42-EA05-4AD4-AD37-7509A996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17674edf7447b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24528-7DB9-4C1E-AA9B-01EDF59C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O DESAFIO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C028A-F4C6-45BE-889E-C922B23C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ADCF6-BF17-4694-B792-D4F836E5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PONTO DE PARTIDA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12D3A-DF40-4064-9EF4-F965E0F8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A planilha registra; a instituição precisa governar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72FFF-38E4-444A-9FA8-FAA8033A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Sem uma carteira única, a liderança recebe o problema tarde e perde a memória das decisões.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988E2-BAFE-4D63-B01B-1E48625D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238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E2AE8-7EC0-4476-9C1A-A1D91D13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6200" cy="1943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383D"/>
          </a:solidFill>
          <a:ln xmlns:a="http://schemas.openxmlformats.org/drawingml/2006/main" w="0">
            <a:solidFill>
              <a:srgbClr val="A238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015CB-39F8-4B84-AE17-EF06D346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VISÃO FRAGMENTADA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64F7D-1E1D-4CEB-BCAD-0546ACF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A2383D"/>
                </a:solidFill>
              </a:defRPr>
            </a:pPr>
            <a:r>
              <a:rPr sz="2325" b="1">
                <a:solidFill>
                  <a:srgbClr val="A2383D"/>
                </a:solidFill>
              </a:rPr>
              <a:t>Muitas fontes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452FC-CB4E-4604-9C34-43F45215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Valores, prazos, responsáveis e documentos ficam separados.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C4400-2649-4C3E-B3E8-2676B978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ECF67-1EF4-4FB0-9DE4-1FAAF171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76200" cy="1943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DBDA1-2252-4EA3-9C39-5A9FEF35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05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GESTÃO REATIVA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33AD9-15AE-4008-BE8B-F2A95924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90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Risco tardio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58C80-8C97-49C1-B609-72F6859E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243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Atrasos aparecem quando o espaço para agir já diminuiu.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38BAA-450A-4B1F-A8DC-30D291DB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238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FCB03-DDE0-47D9-B261-34CEF3EA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76200" cy="1943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72"/>
          </a:solidFill>
          <a:ln xmlns:a="http://schemas.openxmlformats.org/drawingml/2006/main" w="0">
            <a:solidFill>
              <a:srgbClr val="315B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8A1B9-5194-4C45-A750-F9A3AFA6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052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BAIXA MEMÓRIA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B28D2-E512-48FA-A0B3-E89CCE9D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90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15B72"/>
                </a:solidFill>
              </a:defRPr>
            </a:pPr>
            <a:r>
              <a:rPr sz="2325" b="1">
                <a:solidFill>
                  <a:srgbClr val="315B72"/>
                </a:solidFill>
              </a:rPr>
              <a:t>Pouca trilha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7F582-A333-4E0C-97F3-645873D3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243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Alterações e decisões perdem contexto ao longo do exercício.</a:t>
            </a:r>
          </a:p>
        </p:txBody>
      </p:sp>
    </p:spTree>
    <p:extLst>
      <p:ext uri="{BB962C8B-B14F-4D97-AF65-F5344CB8AC3E}">
        <p14:creationId xmlns:p14="http://schemas.microsoft.com/office/powerpoint/2010/main" val="9011324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8675D-A40F-4F35-9F4A-0834855E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26a48339b426e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45014-ADA6-42BC-AB9F-44CAE34D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A SOLUÇÃO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F2E78-9A25-4F2F-9929-509C91BD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AF70F-9083-403D-A8C6-3F0525C4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CICLO ÚNICO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73CEA-BD66-4F8E-9996-8E926638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Da necessidade à execução, sem perder contexto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9BCF2-FBB6-4319-A6E2-471D61BF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Cada demanda mantém valor, prazo, responsáveis, versões, aprovações, execução e evidências.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8C1B9-6DAD-4E32-B8FE-2AE7F67F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4DFD7-D528-424F-AEAB-F278E279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6265"/>
                </a:solidFill>
              </a:defRPr>
            </a:pPr>
            <a:r>
              <a:rPr sz="900" b="1">
                <a:solidFill>
                  <a:srgbClr val="6B626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46B57-D425-48D0-AEA6-5EBE056E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REGISTRAR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3330E-AA1F-4A5D-B394-742638EF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624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9A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1F5E0-AD14-4203-BFB1-A6F579E8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DEC29-70A8-410A-85E2-D20F0F53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6265"/>
                </a:solidFill>
              </a:defRPr>
            </a:pPr>
            <a:r>
              <a:rPr sz="900" b="1">
                <a:solidFill>
                  <a:srgbClr val="6B626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3856F-EAFE-4ED9-8C19-2134AAE3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VALIDAR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43A34-8A05-4D56-AABC-53162BAC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624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9A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C4F52-DBFD-442C-ADAC-544F33A9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EEAEA-0EF6-4CEF-B004-D096261A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6265"/>
                </a:solidFill>
              </a:defRPr>
            </a:pPr>
            <a:r>
              <a:rPr sz="900" b="1">
                <a:solidFill>
                  <a:srgbClr val="6B626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FF310-39FA-417B-9C8A-30949658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APROVAR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13D2C-7348-42EA-A756-A7D13D88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624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9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655BD-824B-4C6F-8C5B-77901F0A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64FA0-AE7F-42D8-B196-3C3DD21D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B6265"/>
                </a:solidFill>
              </a:defRPr>
            </a:pPr>
            <a:r>
              <a:rPr sz="900" b="1">
                <a:solidFill>
                  <a:srgbClr val="6B6265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250D4-C212-47F0-B604-6F360D96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EXECUTAR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83E96-BC5A-4E8B-8771-60D1F8BF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624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9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398FC-C35D-4C0F-A2E4-2661FA39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14750"/>
            <a:ext cx="1619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525D0-B750-4434-8E6F-569AB52D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48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49A3A"/>
                </a:solidFill>
              </a:defRPr>
            </a:pPr>
            <a:r>
              <a:rPr sz="900" b="1">
                <a:solidFill>
                  <a:srgbClr val="C49A3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FD9322-8123-46B1-A3D8-0856D0AD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71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PUBLICAR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AD87A-AD62-4323-9B5A-AB24C5F7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42101F"/>
                </a:solidFill>
              </a:defRPr>
            </a:pPr>
            <a:r>
              <a:rPr sz="1575" b="1">
                <a:solidFill>
                  <a:srgbClr val="42101F"/>
                </a:solidFill>
              </a:rPr>
              <a:t>Uma carteira • regras explícitas • decisões auditáveis</a:t>
            </a:r>
          </a:p>
        </p:txBody>
      </p:sp>
    </p:spTree>
    <p:extLst>
      <p:ext uri="{BB962C8B-B14F-4D97-AF65-F5344CB8AC3E}">
        <p14:creationId xmlns:p14="http://schemas.microsoft.com/office/powerpoint/2010/main" val="1499018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6B84A6-D54C-4916-A6B5-C353A170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d4a3e43724a22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64E76-6BE1-43A3-B7FA-3727398B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UNIDADE REQUISITANTE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4D6AA-6FC9-4DD9-92F0-FC33F947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8F716-7737-4C7C-8A87-C7EFD0AB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DFD COMPLETO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F8979-DE04-4015-AE50-836853A6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Registrar, corrigir e retirar com segurança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B7683-2276-4AE9-91D1-DEEE9914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O formulário reúne os elementos essenciais; toda correção preserva histórico e toda retirada exige justificativa.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94460-6F78-42DA-B33E-293335C6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9DA30-7467-44D0-8971-73703648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A52"/>
          </a:solidFill>
          <a:ln xmlns:a="http://schemas.openxmlformats.org/drawingml/2006/main" w="0">
            <a:solidFill>
              <a:srgbClr val="1F6A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938B0-5B9F-41C5-9EEE-06E6A00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ADERÊNCIA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59EDF-3FD0-41D1-B7C4-97B80BB0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6A52"/>
                </a:solidFill>
              </a:defRPr>
            </a:pPr>
            <a:r>
              <a:rPr sz="2325" b="1">
                <a:solidFill>
                  <a:srgbClr val="1F6A52"/>
                </a:solidFill>
              </a:rPr>
              <a:t>Campos essenciais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F4FFA-F517-4069-AF70-2E35D4C0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Objeto, justificativa, quantidade, período, valor e responsabilidade.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9193A-63C7-4C45-A614-C54B8FAF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733A3-89F3-45A6-B740-1549DA05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72"/>
          </a:solidFill>
          <a:ln xmlns:a="http://schemas.openxmlformats.org/drawingml/2006/main" w="0">
            <a:solidFill>
              <a:srgbClr val="315B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7CD4F-2348-4F37-8D77-2B67873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VALORES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C71FD-D0A3-46E8-B812-5BE24266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15B72"/>
                </a:solidFill>
              </a:defRPr>
            </a:pPr>
            <a:r>
              <a:rPr sz="2325" b="1">
                <a:solidFill>
                  <a:srgbClr val="315B72"/>
                </a:solidFill>
              </a:rPr>
              <a:t>Cálculo assistido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A6457-35CE-4A6D-BA30-2253287A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Quantidade × valor unitário, com formatação brasileira e total validado.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345AE-9904-4027-95C7-36047E47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66E28-E0F7-4A24-A89A-665ECBCD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087BD-818C-4AE6-AD15-4664D9FC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DOCUMENTO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E7356-10B2-4635-A168-3F65A5B8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Anexo do DFD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7A8EC-FFF2-4D13-B294-4C07CC76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PDF, DOC ou DOCX, até 8 MiB, enquanto o SEI não estiver conectado.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B4264-F088-4212-8AC8-5CF96DE7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3FD16-62D6-4E70-AF71-2600D349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7E29D-53E5-4607-8EB2-0F21E7AC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CORREÇÃO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36347-47D2-4475-886E-E7735DBC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681C32"/>
                </a:solidFill>
              </a:defRPr>
            </a:pPr>
            <a:r>
              <a:rPr sz="2325" b="1">
                <a:solidFill>
                  <a:srgbClr val="681C32"/>
                </a:solidFill>
              </a:rPr>
              <a:t>Nova versão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7112C-D556-44FE-81B3-E7DC7328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Rascunho pode ser editado ou retirado, com justificativa e auditoria.</a:t>
            </a:r>
          </a:p>
        </p:txBody>
      </p:sp>
    </p:spTree>
    <p:extLst>
      <p:ext uri="{BB962C8B-B14F-4D97-AF65-F5344CB8AC3E}">
        <p14:creationId xmlns:p14="http://schemas.microsoft.com/office/powerpoint/2010/main" val="1884225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8FB5A0-0722-4CD9-A83C-29410D81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2672b72e24fc1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4CB99-FE1B-49CA-8EAB-07CED0A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VISÃO EXECUTIVA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9143B-8FA4-4019-ABBA-3ED0297B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1AD6F-1788-4D5D-A56C-259A11B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DECISÃO EM UMA PÁGINA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AD85C-84B1-499B-BFBD-767EE450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A liderança enxerga o que exige 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17AF2-DBB8-455D-A3BD-6461CC77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Planejado × executado, alterações, riscos, inclusões, cancelamentos e reprogramações no mesmo painel.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A61F0-959C-418F-9F65-002C7478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4955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F491A-6B8A-4982-9A71-BD9254D0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FF5AB-9352-4382-AEEA-A0C87515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PLANEJAMENTO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8974D-F733-482B-A1FF-E4DA0B44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681C32"/>
                </a:solidFill>
              </a:defRPr>
            </a:pPr>
            <a:r>
              <a:rPr sz="2325" b="1">
                <a:solidFill>
                  <a:srgbClr val="681C32"/>
                </a:solidFill>
              </a:rPr>
              <a:t>Orçamento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B85F1-0605-424E-9882-6B77DE8C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Valores originais, revisados e ajustados após a LOA.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1D76B-736A-4DE3-AC8F-1C38ACCA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24955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CA179-FC30-425B-B6E8-6BA7D368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A52"/>
          </a:solidFill>
          <a:ln xmlns:a="http://schemas.openxmlformats.org/drawingml/2006/main" w="0">
            <a:solidFill>
              <a:srgbClr val="1F6A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9D6A4-80CB-493C-A064-491DDBC9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62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EXECUÇÃO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B4292-D03E-4569-AE82-818BE8E5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481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6A52"/>
                </a:solidFill>
              </a:defRPr>
            </a:pPr>
            <a:r>
              <a:rPr sz="2325" b="1">
                <a:solidFill>
                  <a:srgbClr val="1F6A52"/>
                </a:solidFill>
              </a:rPr>
              <a:t>Realizado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EFD60-2F23-4ECC-B228-0B0AE217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Processo, marcos, resultado e valor contratado.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724C3-4AF0-4C87-B0D5-93B2F09F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24955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8E209-012D-49DD-BE7C-2FD329AD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263F8-45BE-4B7C-8CEC-B6D8C290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MUDANÇAS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A8D1E-44A5-4CC9-A3C3-26E0CCC5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Rastreáveis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44CBC-82CF-4BA9-A7AB-4EA7AEB3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81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Revisões, inclusões, cancelamentos e reprogramações.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557A9-FB41-4BCD-B0DE-8A5753D5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24955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25DB5-6923-46E7-8A2E-88577916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383D"/>
          </a:solidFill>
          <a:ln xmlns:a="http://schemas.openxmlformats.org/drawingml/2006/main" w="0">
            <a:solidFill>
              <a:srgbClr val="A238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10619-4475-4CD0-9F3C-AD67D21C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623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RISCOS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C37C43-DBA2-4F5F-A1C8-5BC9791A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481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A2383D"/>
                </a:solidFill>
              </a:defRPr>
            </a:pPr>
            <a:r>
              <a:rPr sz="2325" b="1">
                <a:solidFill>
                  <a:srgbClr val="A2383D"/>
                </a:solidFill>
              </a:rPr>
              <a:t>Explicáveis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EF441-64E2-43CE-AD09-EE672F61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81500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Motivo, prazo e ação recomendada — sem caixa-preta.</a:t>
            </a:r>
          </a:p>
        </p:txBody>
      </p:sp>
    </p:spTree>
    <p:extLst>
      <p:ext uri="{BB962C8B-B14F-4D97-AF65-F5344CB8AC3E}">
        <p14:creationId xmlns:p14="http://schemas.microsoft.com/office/powerpoint/2010/main" val="19290328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7AFC86-9AD3-4350-AA6F-D21BC7A1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58cd2482249bf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202CD-D673-485F-A29D-E916D27D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ANTECIPAÇÃO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5ED5D-905F-44B2-BB28-24A41BC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62BAD-C057-4E32-9839-9ADDF05A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RISCO E RETROPLANEJAMENTO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C9DED-87DB-4F81-BD08-EF2B5808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Agir antes do prazo ficar crítico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20B3-5D63-4C80-877B-4FF2F66B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A data desejada gera marcos anteriores; cada alerta mostra a regra aplicada e o prazo restante.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DCAC4-C6E6-48E5-8EE8-EB10032C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00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4B7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35D09-22C7-40DD-9803-64DFAAD5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46BC9-B41E-42B8-AD4B-8A7B90E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6A0E3-303F-4C48-92B2-8674A46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DEMANDA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FD361-F8D7-41E0-B0FC-4C1C9CE5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escopo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C9E9D-69F9-4EC7-96CF-BA258BBC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BB5B7-D88C-4F56-B4C2-C659DAA1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91B71-753E-4BAA-B822-B251C63D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PREPARAÇÃO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C3C81-CA78-4C8A-A720-A97B85A8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estudo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7452F-748A-40CB-A09B-176DEF53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A8886-D024-42FA-BC96-671C5606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97CB0-327C-4B89-AD8C-DB2E0386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SELEÇÃO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D80E34-D7CA-48BF-BB5E-62A8151A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edital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F2A44-F4F2-42A3-8881-725B863D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8D5E4D-8A30-4356-93DA-3981AB29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385763-F684-4B9C-B4B4-79CBC1F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CONTRATAÇÃO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3E044-275E-4A61-BD8C-E60A05D2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assinatura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28615-93AD-4B24-9293-ED8FBF4E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C372E-A308-44A7-8377-035FED22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4F684-B761-4E6E-A0EF-AF81F236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ENTREGA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CB804-3FF0-4F74-9FB0-BBEB5B7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resultado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AFA9C-B528-4B29-B319-A59DF2FB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38576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2C3"/>
          </a:solidFill>
          <a:ln xmlns:a="http://schemas.openxmlformats.org/drawingml/2006/main" w="0">
            <a:solidFill>
              <a:srgbClr val="F0E2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B98CE7-35C4-4AC9-9DCA-1537B58A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2101F"/>
                </a:solidFill>
              </a:defRPr>
            </a:pPr>
            <a:r>
              <a:rPr sz="975" b="1">
                <a:solidFill>
                  <a:srgbClr val="42101F"/>
                </a:solidFill>
              </a:rPr>
              <a:t>Parâmetros configuráveis • uso gerencial • não normativos</a:t>
            </a:r>
          </a:p>
        </p:txBody>
      </p:sp>
    </p:spTree>
    <p:extLst>
      <p:ext uri="{BB962C8B-B14F-4D97-AF65-F5344CB8AC3E}">
        <p14:creationId xmlns:p14="http://schemas.microsoft.com/office/powerpoint/2010/main" val="1136768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3918C2-5A67-48F4-B282-8EE62BB9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21aeac6d440b5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7E422-4470-4830-A4DD-610230E1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GOVERNANÇA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35D3B-D1DB-4E2E-BF57-E260BE4E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DF044-2125-4A55-9D32-DCDE8EF9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RASTREABILIDADE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9D261-A04D-42FA-9F25-594B8F37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Toda mudança deixa evidência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72A9C-65C0-4CB6-A56C-7625E93F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Versões, justificativas, aprovações e eventos preservam o contexto e a autoria da decisão.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65784-8542-4E33-B00C-72612B0C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472D9-3000-43CE-9CA2-2E2A32D2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Revisão aprovada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500CA-CBDF-4761-9943-B01A1518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19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11B1D"/>
                </a:solidFill>
              </a:defRPr>
            </a:pPr>
            <a:r>
              <a:rPr sz="1125" b="0">
                <a:solidFill>
                  <a:srgbClr val="211B1D"/>
                </a:solidFill>
              </a:rPr>
              <a:t>gera nova versão da demanda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3C5CD-F13B-441A-9568-21B3F69A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15B72"/>
                </a:solidFill>
              </a:defRPr>
            </a:pPr>
            <a:r>
              <a:rPr sz="1050" b="1">
                <a:solidFill>
                  <a:srgbClr val="315B72"/>
                </a:solidFill>
              </a:rPr>
              <a:t>Histórico preservado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4B0B1-4102-4AD2-AD76-D6353F66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E8EA"/>
          </a:solidFill>
          <a:ln xmlns:a="http://schemas.openxmlformats.org/drawingml/2006/main" w="0">
            <a:solidFill>
              <a:srgbClr val="E2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F2FEA-F831-4629-B9C3-CDD77167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Adequação pós-LOA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466FC-361F-4CC6-A452-562F2680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11B1D"/>
                </a:solidFill>
              </a:defRPr>
            </a:pPr>
            <a:r>
              <a:rPr sz="1125" b="0">
                <a:solidFill>
                  <a:srgbClr val="211B1D"/>
                </a:solidFill>
              </a:rPr>
              <a:t>mantém valor original, revisado e ajustado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56426-2E3C-43B6-8143-AF6EC138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15B72"/>
                </a:solidFill>
              </a:defRPr>
            </a:pPr>
            <a:r>
              <a:rPr sz="1050" b="1">
                <a:solidFill>
                  <a:srgbClr val="315B72"/>
                </a:solidFill>
              </a:rPr>
              <a:t>Justificativa obrigatória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EDCA6-C3F0-475B-B3AC-9D694EE8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F7855-FEE2-4A0C-9CF6-9F2BF202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Aprovação por etapa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DA317-54D3-4099-89FD-DDBA96C3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958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11B1D"/>
                </a:solidFill>
              </a:defRPr>
            </a:pPr>
            <a:r>
              <a:rPr sz="1125" b="0">
                <a:solidFill>
                  <a:srgbClr val="211B1D"/>
                </a:solidFill>
              </a:rPr>
              <a:t>perfil, alçada e decisão registrados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FD426-349C-4FCF-8E32-7C432697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15B72"/>
                </a:solidFill>
              </a:defRPr>
            </a:pPr>
            <a:r>
              <a:rPr sz="1050" b="1">
                <a:solidFill>
                  <a:srgbClr val="315B72"/>
                </a:solidFill>
              </a:rPr>
              <a:t>Fluxo configurável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A1790-F40C-4641-88F8-4FC04343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10820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E8EA"/>
          </a:solidFill>
          <a:ln xmlns:a="http://schemas.openxmlformats.org/drawingml/2006/main" w="0">
            <a:solidFill>
              <a:srgbClr val="E2D4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C6F67-9694-4063-923F-B601B6AF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Planejamento × execução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F073C-299D-493E-836D-37382A72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339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11B1D"/>
                </a:solidFill>
              </a:defRPr>
            </a:pPr>
            <a:r>
              <a:rPr sz="1125" b="0">
                <a:solidFill>
                  <a:srgbClr val="211B1D"/>
                </a:solidFill>
              </a:rPr>
              <a:t>estados independentes e coerentes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8E8F3-0AB4-4DA5-B1DE-ECC54CB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339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F6A52"/>
                </a:solidFill>
              </a:defRPr>
            </a:pPr>
            <a:r>
              <a:rPr sz="1050" b="1">
                <a:solidFill>
                  <a:srgbClr val="1F6A52"/>
                </a:solidFill>
              </a:rPr>
              <a:t>Auditoria completa</a:t>
            </a:r>
          </a:p>
        </p:txBody>
      </p:sp>
    </p:spTree>
    <p:extLst>
      <p:ext uri="{BB962C8B-B14F-4D97-AF65-F5344CB8AC3E}">
        <p14:creationId xmlns:p14="http://schemas.microsoft.com/office/powerpoint/2010/main" val="3405960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42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B5E1C-0D28-4AF7-90C5-D1F13AB2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d4316ebb84025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4ACC1-ADC6-4E48-AE27-EEE60893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E9D9DE"/>
                </a:solidFill>
              </a:defRPr>
            </a:pPr>
            <a:r>
              <a:rPr sz="900" b="1">
                <a:solidFill>
                  <a:srgbClr val="E9D9DE"/>
                </a:solidFill>
              </a:rPr>
              <a:t>INTELIGÊNCIA PNCP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6C8D3-A7B0-4351-8A4F-6ADD774A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D5BDC5"/>
                </a:solidFill>
              </a:defRPr>
            </a:pPr>
            <a:r>
              <a:rPr sz="825" b="1">
                <a:solidFill>
                  <a:srgbClr val="D5BDC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DD39D-8C9F-4527-BA6C-2DB1269A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DADOS PÚBLICOS • USO RESPONSÁVEL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7646D-A70F-4FE8-B5CB-63EDB595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Histórico real, sem misturar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com a carteira fictícia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C7837-5455-4A34-B8B8-477395E0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8DCE0"/>
                </a:solidFill>
              </a:defRPr>
            </a:pPr>
            <a:r>
              <a:rPr sz="1500" b="0">
                <a:solidFill>
                  <a:srgbClr val="E8DCE0"/>
                </a:solidFill>
              </a:rPr>
              <a:t>A base pública cria referências exploratórias; o risco só usa estatística quando a amostra é suficiente.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2B52A-4715-4F9E-81AB-247534DE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857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4F2C2-2C7F-4CA2-87DD-7E64D4C0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762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699FC-05CF-4736-B936-0C86A72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POPULAÇÃO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0486C-8DFC-4841-897A-131BDB3D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966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61DCD-5246-45D6-90F8-6FCFE7CC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contratos importados • CNPJ do MPRJ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E1617-D158-4D16-A4EF-AB1B63FD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29050"/>
            <a:ext cx="2857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D88FE-36B9-4990-89B1-E913F4BE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29050"/>
            <a:ext cx="762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A7AE7-6919-4237-8A01-5300AAD1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AMOSTRA TEMPORAL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91889-B5E6-4066-BE55-EAD8CC53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86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9 de 966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80814-6B22-49B7-8AE6-0CC73BD1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19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prazos públicos calculáveis • 0,93%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38371-7667-4D61-827A-87B30D5E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2857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E7AAC-7C68-4891-816D-D6EC6D25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76200" cy="15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9751A-329D-4A77-AD84-CCB9B619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REGRA DE USO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1675C-A855-4326-AC22-BA2751E4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n ≥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24B33-0064-401B-B1AA-9E34DCCB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19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por categoria para influenciar o risco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D7CC0-D269-4AF4-87CB-F8C31D2A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857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3CF79-691A-4000-B00C-E15FF31B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Sem fornecedores armazenados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D3530-3C21-4862-AAF5-DD221211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734050"/>
            <a:ext cx="2857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5E6C5-085D-40AC-BB1F-30C92EB0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734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Sincronização incremental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CBAA6-9A5B-444B-A865-5F5571B1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34050"/>
            <a:ext cx="2381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2B47"/>
          </a:solidFill>
          <a:ln xmlns:a="http://schemas.openxmlformats.org/drawingml/2006/main" w="0">
            <a:solidFill>
              <a:srgbClr val="7E2B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B6150-9B1A-4A4A-8380-15C91BC0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34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Proveniência preservada</a:t>
            </a:r>
          </a:p>
        </p:txBody>
      </p:sp>
    </p:spTree>
    <p:extLst>
      <p:ext uri="{BB962C8B-B14F-4D97-AF65-F5344CB8AC3E}">
        <p14:creationId xmlns:p14="http://schemas.microsoft.com/office/powerpoint/2010/main" val="8175139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6B84A6-D54C-4916-A6B5-C353A170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f87c81ddd4bfe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64E76-6BE1-43A3-B7FA-3727398B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LEITURA ESTATÍSTICA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4D6AA-6FC9-4DD9-92F0-FC33F947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8F716-7737-4C7C-8A87-C7EFD0AB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COMO INTERPRETAR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F8979-DE04-4015-AE50-836853A6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966 contratos não significam 966 prazos observados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B7683-2276-4AE9-91D1-DEEE9914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P50, P75 e P90 usam somente os nove registros com datas públicas completas — nunca toda a população importada.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94460-6F78-42DA-B33E-293335C6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9DA30-7467-44D0-8971-73703648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A52"/>
          </a:solidFill>
          <a:ln xmlns:a="http://schemas.openxmlformats.org/drawingml/2006/main" w="0">
            <a:solidFill>
              <a:srgbClr val="1F6A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938B0-5B9F-41C5-9EEE-06E6A00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POPULAÇÃO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59EDF-3FD0-41D1-B7C4-97B80BB0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F6A52"/>
                </a:solidFill>
              </a:defRPr>
            </a:pPr>
            <a:r>
              <a:rPr sz="2325" b="1">
                <a:solidFill>
                  <a:srgbClr val="1F6A52"/>
                </a:solidFill>
              </a:rPr>
              <a:t>966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F4FFA-F517-4069-AF70-2E35D4C0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Registros distintos retornados pela consulta pública do PNCP.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9193A-63C7-4C45-A614-C54B8FAF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733A3-89F3-45A6-B740-1549DA05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72"/>
          </a:solidFill>
          <a:ln xmlns:a="http://schemas.openxmlformats.org/drawingml/2006/main" w="0">
            <a:solidFill>
              <a:srgbClr val="315B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7CD4F-2348-4F37-8D77-2B67873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AMOSTRA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C71FD-D0A3-46E8-B812-5BE24266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15B72"/>
                </a:solidFill>
              </a:defRPr>
            </a:pPr>
            <a:r>
              <a:rPr sz="2325" b="1">
                <a:solidFill>
                  <a:srgbClr val="315B72"/>
                </a:solidFill>
              </a:rPr>
              <a:t>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A6457-35CE-4A6D-BA30-2253287A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Casos com publicação da contratação e assinatura do contrato.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345AE-9904-4027-95C7-36047E47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66E28-E0F7-4A24-A89A-665ECBCD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087BD-818C-4AE6-AD15-4664D9FC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COBERTURA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E7356-10B2-4635-A168-3F65A5B8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49A3A"/>
                </a:solidFill>
              </a:defRPr>
            </a:pPr>
            <a:r>
              <a:rPr sz="2325" b="1">
                <a:solidFill>
                  <a:srgbClr val="C49A3A"/>
                </a:solidFill>
              </a:rPr>
              <a:t>0,93%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7A8EC-FFF2-4D13-B294-4C07CC76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Nove prazos calculáveis divididos por 966 contratos importados.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B4264-F088-4212-8AC8-5CF96DE7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476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4DA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53FD16-62D6-4E70-AF71-2600D349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7620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7E29D-53E5-4607-8EB2-0F21E7AC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P75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36347-47D2-4475-886E-E7735DBC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100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681C32"/>
                </a:solidFill>
              </a:defRPr>
            </a:pPr>
            <a:r>
              <a:rPr sz="2325" b="1">
                <a:solidFill>
                  <a:srgbClr val="681C32"/>
                </a:solidFill>
              </a:rPr>
              <a:t>Percentil 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F7112C-D556-44FE-81B3-E7DC7328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434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75% terminaram até esse valor; 25% demoraram mais. Não é norma.</a:t>
            </a:r>
          </a:p>
        </p:txBody>
      </p:sp>
    </p:spTree>
    <p:extLst>
      <p:ext uri="{BB962C8B-B14F-4D97-AF65-F5344CB8AC3E}">
        <p14:creationId xmlns:p14="http://schemas.microsoft.com/office/powerpoint/2010/main" val="18842258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9E48E2-3467-4422-A54E-F179CB2B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cde3dc5fc48fe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FC797-69F7-4B13-AA12-E647B9AA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INTEROPERABILIDADE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1F20B-54B4-4974-8196-58AE7777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75BD9-412A-481A-856C-0AD48909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MATRIZ DE VERDADE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E0826-AB52-40FC-AB77-787F120B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Integrações preparadas, transmissões bloqueadas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1F41D-1065-45FB-8C9B-B6B1DEB8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O núcleo do PAC permanece independente; cada conexão real exige contrato, credencial e homologação institucional.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E39D2-D511-4EB9-9884-FCAF9EE7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76600"/>
            <a:ext cx="3143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8D592-7B72-4AB5-B98B-9DD53F43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PAC DIGITAL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69FB8-602F-463D-8E9D-BACF5D9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290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E9D7DD"/>
                </a:solidFill>
              </a:defRPr>
            </a:pPr>
            <a:r>
              <a:rPr sz="1200" b="0">
                <a:solidFill>
                  <a:srgbClr val="E9D7DD"/>
                </a:solidFill>
              </a:rPr>
              <a:t>núcleo de governança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F6664-C0E3-4D54-8478-7ED14D1B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0D3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8B3F8-BF03-4BD1-A0E2-9C3D5C25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15B72"/>
                </a:solidFill>
              </a:defRPr>
            </a:pPr>
            <a:r>
              <a:rPr sz="1200" b="1">
                <a:solidFill>
                  <a:srgbClr val="315B72"/>
                </a:solidFill>
              </a:rPr>
              <a:t>IDENTIDADE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307AD-A480-4575-9949-872842EB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OIDC / LDAP a conectar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DCCB7-3557-4553-9CFA-7BDB35F7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B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2A2E5-DC26-483C-BE2B-B6FAF4BE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0D3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2B424-7FF3-4212-80E1-9461010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49A3A"/>
                </a:solidFill>
              </a:defRPr>
            </a:pPr>
            <a:r>
              <a:rPr sz="1200" b="1">
                <a:solidFill>
                  <a:srgbClr val="C49A3A"/>
                </a:solidFill>
              </a:rPr>
              <a:t>SEI!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455A8-2363-4367-81AA-DC4765C3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vínculo local • sem SOAP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8291C-FC52-4683-871E-CB240918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006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9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7C674-D26B-4D4C-9CAE-5B9DC15A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0D3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AD2C51-09C8-45C1-B766-CCE6B0CC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766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6A52"/>
                </a:solidFill>
              </a:defRPr>
            </a:pPr>
            <a:r>
              <a:rPr sz="1200" b="1">
                <a:solidFill>
                  <a:srgbClr val="1F6A52"/>
                </a:solidFill>
              </a:rPr>
              <a:t>PCA / PNCP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8F687-402C-4665-854F-53846D97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payload local • sem POST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63796-D064-437D-986B-34D0C8C9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6A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243D4-AFD3-4C3D-8C72-574B9398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05375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0D3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87E15-C69F-469F-9456-088254C1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3872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1C32"/>
                </a:solidFill>
              </a:defRPr>
            </a:pPr>
            <a:r>
              <a:rPr sz="1200" b="1">
                <a:solidFill>
                  <a:srgbClr val="681C32"/>
                </a:solidFill>
              </a:rPr>
              <a:t>TRANSPARÊNCIA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2E25C-A69B-4A41-812D-5EAAEDEA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6257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snapshot aprovado • hash interno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3D8DF-E575-4352-9534-228F7356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006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81C3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33185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5D577E-CC89-48FE-879E-E4819E70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372301f124926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35328-8A57-4316-AAA7-62E9879A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SEGURANÇA E OPERAÇÃO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F0937-4ADC-4B01-A32F-53A3CEEE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B686B-1A80-4840-A0CD-B0F06650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EVIDÊNCIAS DA RC2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73000-842F-44B8-AEDF-61E2A4D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Preparado para ser assumido pelo MPRJ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F9C09-82C5-4D9D-A24D-42537A8D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Qualidade, portabilidade, recuperação e bloqueios externos foram verificados antes da apresentação.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55ACC-4356-4D6E-83D8-CA79EA2C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105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5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65B58-37F7-4C88-91FB-7625D6A3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44B7D-16BB-4EFB-ACA4-7B949E90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A576F-E98F-4DE9-A73C-6BB70AE9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13 testes aprovados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73143-1155-4713-924C-EE2C3AA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6265"/>
                </a:solidFill>
              </a:defRPr>
            </a:pPr>
            <a:r>
              <a:rPr sz="975" b="0">
                <a:solidFill>
                  <a:srgbClr val="6B6265"/>
                </a:solidFill>
              </a:rPr>
              <a:t>integração, E2E, segurança e desempenho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0E143-2C72-43E8-9770-B63B0C1A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105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5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970AF-2F4C-453A-A82C-4EDA8751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575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C2150-0022-49E3-82F5-A970E0B5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385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2101F"/>
                </a:solidFill>
              </a:defRPr>
            </a:pPr>
            <a:r>
              <a:rPr sz="1275" b="1">
                <a:solidFill>
                  <a:srgbClr val="42101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DFA71-E29C-469A-8A82-84F3F36B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Build validado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7A3C8-5F66-4671-9087-196C2079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0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6265"/>
                </a:solidFill>
              </a:defRPr>
            </a:pPr>
            <a:r>
              <a:rPr sz="975" b="0">
                <a:solidFill>
                  <a:srgbClr val="6B6265"/>
                </a:solidFill>
              </a:rPr>
              <a:t>React/TypeScript • 30 módulos • ~182 kB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25122-6AAD-4295-A4BE-E85B2E29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105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5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3958F-BFD4-4D6E-BF2B-49A4D350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896EE-AE5A-44CE-89A7-CD4E1DDE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3F811D-17BC-437E-8195-E96DDE7F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Migrations limpas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BCB33-064F-4651-A413-09E49FEF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38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6265"/>
                </a:solidFill>
              </a:defRPr>
            </a:pPr>
            <a:r>
              <a:rPr sz="975" b="0">
                <a:solidFill>
                  <a:srgbClr val="6B6265"/>
                </a:solidFill>
              </a:rPr>
              <a:t>cadeia 0001 → 0006 aplicada do zero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17101-9CEA-4636-83FE-DC3A7925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5105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5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ECB3D0-7142-41E3-AC1F-C8DDDD0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957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7B1912-CCDE-4A1E-8089-8BC12F4B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76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2101F"/>
                </a:solidFill>
              </a:defRPr>
            </a:pPr>
            <a:r>
              <a:rPr sz="1275" b="1">
                <a:solidFill>
                  <a:srgbClr val="42101F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64B94-58F7-4EBA-9CCB-3F0D6140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Recuperação comprovada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88C187-8056-458B-A00A-B68C3B1C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6265"/>
                </a:solidFill>
              </a:defRPr>
            </a:pPr>
            <a:r>
              <a:rPr sz="975" b="0">
                <a:solidFill>
                  <a:srgbClr val="6B6265"/>
                </a:solidFill>
              </a:rPr>
              <a:t>backup com checksum e restauração isolada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FC9499-A262-4E2A-AD82-B7CB7B6A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105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5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6BC29D-8FCD-48BC-BB6D-1712D232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729C72-228B-41AE-8EE9-B75EE878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149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F1493C-B0F3-40BF-AE5A-CC0F408E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Sem SaaS obrigatório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46C46B-AD35-467C-A19E-B7BC0A55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76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6265"/>
                </a:solidFill>
              </a:defRPr>
            </a:pPr>
            <a:r>
              <a:rPr sz="975" b="0">
                <a:solidFill>
                  <a:srgbClr val="6B6265"/>
                </a:solidFill>
              </a:rPr>
              <a:t>VPS, datacenter ou nuvem institucional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2C755A-9EBF-4E99-9035-A369BEB7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5105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E2D5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1E7787-EC3E-4B86-A24D-080C0598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339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4D34DF-4727-497A-BA44-5F1B6C45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149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2101F"/>
                </a:solidFill>
              </a:defRPr>
            </a:pPr>
            <a:r>
              <a:rPr sz="1275" b="1">
                <a:solidFill>
                  <a:srgbClr val="42101F"/>
                </a:solidFill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ED75AD-E190-43E2-BA2B-31AFDCCB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292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81C32"/>
                </a:solidFill>
              </a:defRPr>
            </a:pPr>
            <a:r>
              <a:rPr sz="1125" b="1">
                <a:solidFill>
                  <a:srgbClr val="681C32"/>
                </a:solidFill>
              </a:rPr>
              <a:t>Transmissões bloqueadas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CB6978-A000-42F0-8044-591554F0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76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6265"/>
                </a:solidFill>
              </a:defRPr>
            </a:pPr>
            <a:r>
              <a:rPr sz="975" b="0">
                <a:solidFill>
                  <a:srgbClr val="6B6265"/>
                </a:solidFill>
              </a:rPr>
              <a:t>SEI/PNCP somente após autorização</a:t>
            </a:r>
          </a:p>
        </p:txBody>
      </p:sp>
    </p:spTree>
    <p:extLst>
      <p:ext uri="{BB962C8B-B14F-4D97-AF65-F5344CB8AC3E}">
        <p14:creationId xmlns:p14="http://schemas.microsoft.com/office/powerpoint/2010/main" val="3109508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43CA2-60B3-488A-9A90-9C733CA6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033a454a143d2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A0314-A7B1-47E6-8D22-BF35564A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CLAREZA DE ESCOPO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66426-1A40-4337-8BA7-348ACF50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0E926-EC5A-4013-BD07-A9DF70DC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PRONTO × DEPENDENTE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59F47-5031-4981-B48A-2E0CA2CE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Pronto para homologação; produção exige decisões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6A35C-0788-4291-80CD-4EA01F55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O ciclo de negócio funciona; produção institucional exige identidade, regras, contratos de integração e aceite formal.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4327E-90FE-488E-B376-C70427D9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048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C7DD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BE5A8-553C-4876-83D0-DEB121EB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6A52"/>
                </a:solidFill>
              </a:defRPr>
            </a:pPr>
            <a:r>
              <a:rPr sz="1200" b="1">
                <a:solidFill>
                  <a:srgbClr val="1F6A52"/>
                </a:solidFill>
              </a:rPr>
              <a:t>PRONTO NA RC2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813AA-BE86-4263-8D05-AC104ED6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11B1D"/>
                </a:solidFill>
              </a:defRPr>
            </a:pPr>
            <a:r>
              <a:rPr sz="1200" b="1">
                <a:solidFill>
                  <a:srgbClr val="211B1D"/>
                </a:solidFill>
              </a:rPr>
              <a:t>✓  ciclo completo e DFD ampliado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F8C5B-D313-4AF2-949E-833504BD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✓  edição, retirada e anexos governados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A64F1-5B2D-4DC2-8D7F-3D9C3B23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✓  risco, PNCP, relatórios e auditoria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06E3E-5B68-4F38-BF1A-6DA519A9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✓  qualidade e recuperação validadas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26425-0E45-422A-8393-470D3E57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19450"/>
            <a:ext cx="55435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E9DB"/>
          </a:solidFill>
          <a:ln xmlns:a="http://schemas.openxmlformats.org/drawingml/2006/main" w="0">
            <a:solidFill>
              <a:srgbClr val="E4CF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8E758-C0B1-4FC4-A16F-A5514681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1C32"/>
                </a:solidFill>
              </a:defRPr>
            </a:pPr>
            <a:r>
              <a:rPr sz="1200" b="1">
                <a:solidFill>
                  <a:srgbClr val="681C32"/>
                </a:solidFill>
              </a:rPr>
              <a:t>DEPENDÊNCIAS DO MPRJ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0BF97-0CB0-4199-9149-25363776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11B1D"/>
                </a:solidFill>
              </a:defRPr>
            </a:pPr>
            <a:r>
              <a:rPr sz="1200" b="1">
                <a:solidFill>
                  <a:srgbClr val="211B1D"/>
                </a:solidFill>
              </a:rPr>
              <a:t>→  identidade, perfis, unidades e alçadas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E3C31-29F2-4B41-AF4E-8D665FEE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→  WSDL, operações e credencial do SEI!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5F9D9-8869-48EE-AF31-E9EE27C7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672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→  homologação e credencial do PNCP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CE7A0-65BA-4269-BEAA-7579DAB2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482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11B1D"/>
                </a:solidFill>
              </a:defRPr>
            </a:pPr>
            <a:r>
              <a:rPr sz="1200" b="0">
                <a:solidFill>
                  <a:srgbClr val="211B1D"/>
                </a:solidFill>
              </a:rPr>
              <a:t>→  domínio, storage, monitoração e aceite</a:t>
            </a:r>
          </a:p>
        </p:txBody>
      </p:sp>
    </p:spTree>
    <p:extLst>
      <p:ext uri="{BB962C8B-B14F-4D97-AF65-F5344CB8AC3E}">
        <p14:creationId xmlns:p14="http://schemas.microsoft.com/office/powerpoint/2010/main" val="20631603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7AFC86-9AD3-4350-AA6F-D21BC7A1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413bfbbe24672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202CD-D673-485F-A29D-E916D27D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DEMONSTRAÇÃO AO VIVO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5ED5D-905F-44B2-BB28-24A41BC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62BAD-C057-4E32-9839-9ADDF05A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ROTEIRO ORIENTADO POR PERGUNTAS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C9DED-87DB-4F81-BD08-EF2B5808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Dez minutos para provar valor e prontidão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20B3-5D63-4C80-877B-4FF2F66B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Cada tela responde a uma pergunta executiva; detalhes técnicos ficam para a sabatina ou para o guia.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DCAC4-C6E6-48E5-8EE8-EB10032C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00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4B7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35D09-22C7-40DD-9803-64DFAAD5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46BC9-B41E-42B8-AD4B-8A7B90E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6A0E3-303F-4C48-92B2-8674A46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VISÃO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FD361-F8D7-41E0-B0FC-4C1C9CE5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onde agir?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C9E9D-69F9-4EC7-96CF-BA258BBC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BB5B7-D88C-4F56-B4C2-C659DAA1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91B71-753E-4BAA-B822-B251C63D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CARTEIRA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C3C81-CA78-4C8A-A720-A97B85A8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o que contratar?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7452F-748A-40CB-A09B-176DEF53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A8886-D024-42FA-BC96-671C5606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97CB0-327C-4B89-AD8C-DB2E0386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DETALHE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D80E34-D7CA-48BF-BB5E-62A8151A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por que há risco?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F2A44-F4F2-42A3-8881-725B863D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8D5E4D-8A30-4356-93DA-3981AB29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385763-F684-4B9C-B4B4-79CBC1F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INTEGRAÇÕES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3E044-275E-4A61-BD8C-E60A05D2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o que está conectado?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28615-93AD-4B24-9293-ED8FBF4E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671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681C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C372E-A308-44A7-8377-035FED22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671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4F684-B761-4E6E-A0EF-AF81F236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86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81C32"/>
                </a:solidFill>
              </a:defRPr>
            </a:pPr>
            <a:r>
              <a:rPr sz="975" b="1">
                <a:solidFill>
                  <a:srgbClr val="681C32"/>
                </a:solidFill>
              </a:rPr>
              <a:t>GOVERNANÇA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CB804-3FF0-4F74-9FB0-BBEB5B7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244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B6265"/>
                </a:solidFill>
              </a:defRPr>
            </a:pPr>
            <a:r>
              <a:rPr sz="900" b="0">
                <a:solidFill>
                  <a:srgbClr val="6B6265"/>
                </a:solidFill>
              </a:rPr>
              <a:t>quem decidiu?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AFA9C-B528-4B29-B319-A59DF2FB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38576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2C3"/>
          </a:solidFill>
          <a:ln xmlns:a="http://schemas.openxmlformats.org/drawingml/2006/main" w="0">
            <a:solidFill>
              <a:srgbClr val="F0E2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B98CE7-35C4-4AC9-9DCA-1537B58A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2101F"/>
                </a:solidFill>
              </a:defRPr>
            </a:pPr>
            <a:r>
              <a:rPr sz="975" b="1">
                <a:solidFill>
                  <a:srgbClr val="42101F"/>
                </a:solidFill>
              </a:rPr>
              <a:t>Fechar com uma decisão concreta: autorizar a homologação institucional</a:t>
            </a:r>
          </a:p>
        </p:txBody>
      </p:sp>
    </p:spTree>
    <p:extLst>
      <p:ext uri="{BB962C8B-B14F-4D97-AF65-F5344CB8AC3E}">
        <p14:creationId xmlns:p14="http://schemas.microsoft.com/office/powerpoint/2010/main" val="11367686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76A0A-4E7C-46BA-AB21-9013728E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86adf68ce456c"/>
          <a:stretch xmlns:a="http://schemas.openxmlformats.org/drawingml/2006/main"/>
        </p:blipFill>
        <p:spPr>
          <a:xfrm xmlns:a="http://schemas.openxmlformats.org/drawingml/2006/main">
            <a:off x="685800" y="278020"/>
            <a:ext cx="1619250" cy="4917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C28B0-B058-4CA7-8404-EA3E7F34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81C32"/>
                </a:solidFill>
              </a:defRPr>
            </a:pPr>
            <a:r>
              <a:rPr sz="900" b="1">
                <a:solidFill>
                  <a:srgbClr val="681C32"/>
                </a:solidFill>
              </a:rPr>
              <a:t>PROPOSTA DE DECISÃO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2B01A-C3BC-4491-97C9-F4D22E29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B6265"/>
                </a:solidFill>
              </a:defRPr>
            </a:pPr>
            <a:r>
              <a:rPr sz="825" b="1">
                <a:solidFill>
                  <a:srgbClr val="6B6265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EFD47-1C78-4974-B522-3B5D5661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9A3A"/>
                </a:solidFill>
              </a:defRPr>
            </a:pPr>
            <a:r>
              <a:rPr sz="975" b="1">
                <a:solidFill>
                  <a:srgbClr val="C49A3A"/>
                </a:solidFill>
              </a:rPr>
              <a:t>PRÓXIMO PASSO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AF996-EF0E-4F52-9494-0ABC9A4D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42101F"/>
                </a:solidFill>
              </a:defRPr>
            </a:pPr>
            <a:r>
              <a:rPr sz="3225" b="1">
                <a:solidFill>
                  <a:srgbClr val="42101F"/>
                </a:solidFill>
              </a:rPr>
              <a:t>Autorizar a homologação institucional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5BCC5-F1BD-45E7-A73C-3005DC64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6265"/>
                </a:solidFill>
              </a:defRPr>
            </a:pPr>
            <a:r>
              <a:rPr sz="1500" b="0">
                <a:solidFill>
                  <a:srgbClr val="6B6265"/>
                </a:solidFill>
              </a:rPr>
              <a:t>Com responsáveis, ambiente de teste, regras oficiais e critérios objetivos de aceite.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97CB3-F03D-453E-9E96-04C2E606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76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ED0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F5DEC-2A9A-404F-8CA5-422DAF44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81C32"/>
                </a:solidFill>
              </a:defRPr>
            </a:pPr>
            <a:r>
              <a:rPr sz="1050" b="1">
                <a:solidFill>
                  <a:srgbClr val="681C32"/>
                </a:solidFill>
              </a:rPr>
              <a:t>0–30 dias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96F4B-66C6-4CE4-B528-92D04C9F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Regras + identidade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383B6-1088-4DDC-931F-5472A20D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oficina funcional, perfis, unidades e ambiente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E4E9F-1CBB-4548-AF7E-B103C083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3276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ED0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D2E49-C02D-4B46-97F1-CA9DF0A4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7187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81C32"/>
                </a:solidFill>
              </a:defRPr>
            </a:pPr>
            <a:r>
              <a:rPr sz="1050" b="1">
                <a:solidFill>
                  <a:srgbClr val="681C32"/>
                </a:solidFill>
              </a:rPr>
              <a:t>31–60 dias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37935-AA37-4FA0-8F1D-EDD624B9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719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2101F"/>
                </a:solidFill>
              </a:defRPr>
            </a:pPr>
            <a:r>
              <a:rPr sz="1800" b="1">
                <a:solidFill>
                  <a:srgbClr val="42101F"/>
                </a:solidFill>
              </a:rPr>
              <a:t>SEI! + PNCP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13DD9-E1C6-4A91-A247-51C1868C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767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6265"/>
                </a:solidFill>
              </a:defRPr>
            </a:pPr>
            <a:r>
              <a:rPr sz="1050" b="0">
                <a:solidFill>
                  <a:srgbClr val="6B6265"/>
                </a:solidFill>
              </a:rPr>
              <a:t>integrações em homologação, sem produção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D4D15-BCEE-4157-A4A4-ED7F9D25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81375"/>
            <a:ext cx="3276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681C32"/>
          </a:solidFill>
          <a:ln xmlns:a="http://schemas.openxmlformats.org/drawingml/2006/main" w="0">
            <a:solidFill>
              <a:srgbClr val="DED0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65C5B-BC5D-4963-94A0-631E65B2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7187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49A3A"/>
                </a:solidFill>
              </a:defRPr>
            </a:pPr>
            <a:r>
              <a:rPr sz="1050" b="1">
                <a:solidFill>
                  <a:srgbClr val="C49A3A"/>
                </a:solidFill>
              </a:rPr>
              <a:t>61–90 dias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16954-9778-4078-A99B-4638EF40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71925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Piloto controlado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C8331-9F41-4194-911A-5B8F3C09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8DCE0"/>
                </a:solidFill>
              </a:defRPr>
            </a:pPr>
            <a:r>
              <a:rPr sz="1050" b="0">
                <a:solidFill>
                  <a:srgbClr val="E8DCE0"/>
                </a:solidFill>
              </a:rPr>
              <a:t>aceite, capacitação e decisão de entrada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D43A2-DF9A-43D0-89CF-9885BFCE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38800"/>
            <a:ext cx="5810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2C3"/>
          </a:solidFill>
          <a:ln xmlns:a="http://schemas.openxmlformats.org/drawingml/2006/main" w="0">
            <a:solidFill>
              <a:srgbClr val="F0E2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F834E-205F-444B-B5E1-AC964C18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38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2101F"/>
                </a:solidFill>
              </a:defRPr>
            </a:pPr>
            <a:r>
              <a:rPr sz="975" b="1">
                <a:solidFill>
                  <a:srgbClr val="42101F"/>
                </a:solidFill>
              </a:rPr>
              <a:t>Decisão pedida: iniciar a homologação com patrocínio institucional</a:t>
            </a:r>
          </a:p>
        </p:txBody>
      </p:sp>
    </p:spTree>
    <p:extLst>
      <p:ext uri="{BB962C8B-B14F-4D97-AF65-F5344CB8AC3E}">
        <p14:creationId xmlns:p14="http://schemas.microsoft.com/office/powerpoint/2010/main" val="15538005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42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B666B-60B3-41D0-B94E-9BE1E1F5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c606623354550"/>
          <a:stretch xmlns:a="http://schemas.openxmlformats.org/drawingml/2006/main"/>
        </p:blipFill>
        <p:spPr>
          <a:xfrm xmlns:a="http://schemas.openxmlformats.org/drawingml/2006/main">
            <a:off x="685800" y="517916"/>
            <a:ext cx="1952625" cy="59294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C12B5-0CB2-4E5A-9A05-E36C6B3E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49A3A"/>
                </a:solidFill>
              </a:defRPr>
            </a:pPr>
            <a:r>
              <a:rPr sz="1200" b="1">
                <a:solidFill>
                  <a:srgbClr val="C49A3A"/>
                </a:solidFill>
              </a:rPr>
              <a:t>PAC DIGITAL MPRJ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A8F39-C62D-430D-ABC2-294D57B5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334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Da planilha à gestão.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Da intenção à execução.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FBA2B-27DC-42BC-8809-28D8CD14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5D7DC"/>
                </a:solidFill>
              </a:defRPr>
            </a:pPr>
            <a:r>
              <a:rPr sz="1500" b="0">
                <a:solidFill>
                  <a:srgbClr val="E5D7DC"/>
                </a:solidFill>
              </a:rPr>
              <a:t>Uma plataforma institucional, portável e pronta para homologação.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22CF9-D63D-451A-B9C1-B8D8712E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3A"/>
          </a:solidFill>
          <a:ln xmlns:a="http://schemas.openxmlformats.org/drawingml/2006/main" w="0">
            <a:solidFill>
              <a:srgbClr val="C49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E02B7-FE40-477A-B56F-33041B62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Decisão proposta: autorizar a homologação institucional da v1.0 RC2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911B1-B324-4EC1-8FBC-5661ED1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AB3BB"/>
                </a:solidFill>
              </a:defRPr>
            </a:pPr>
            <a:r>
              <a:rPr sz="975" b="0">
                <a:solidFill>
                  <a:srgbClr val="CAB3BB"/>
                </a:solidFill>
              </a:rPr>
              <a:t>pac.163-176-228-150.sslip.io</a:t>
            </a:r>
          </a:p>
        </p:txBody>
      </p:sp>
    </p:spTree>
    <p:extLst>
      <p:ext uri="{BB962C8B-B14F-4D97-AF65-F5344CB8AC3E}">
        <p14:creationId xmlns:p14="http://schemas.microsoft.com/office/powerpoint/2010/main" val="464013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2026-10-02T19:29:24.3670000Z</dcterms:created>
  <dcterms:modified xsi:type="dcterms:W3CDTF">2026-10-02T19:29:24.3670000Z</dcterms:modified>
</coreProperties>
</file>