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5d5a1f3f234d19" /><Relationship Type="http://schemas.openxmlformats.org/officeDocument/2006/relationships/extended-properties" Target="/docProps/app.xml" Id="R965b415519124516" /><Relationship Type="http://schemas.openxmlformats.org/officeDocument/2006/relationships/officeDocument" Target="/ppt/presentation.xml" Id="Rb1e9f07225c348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6468d59bb64ea6"/>
  </p:sldMasterIdLst>
  <p:notesMasterIdLst>
    <p:notesMasterId xmlns:r="http://schemas.openxmlformats.org/officeDocument/2006/relationships" r:id="R85fe2795e9484b39"/>
  </p:notesMasterIdLst>
  <p:sldIdLst>
    <p:sldId xmlns:r="http://schemas.openxmlformats.org/officeDocument/2006/relationships" id="256" r:id="Rbd0a31b980ba44db"/>
    <p:sldId xmlns:r="http://schemas.openxmlformats.org/officeDocument/2006/relationships" id="257" r:id="Rfbb232caa3724950"/>
    <p:sldId xmlns:r="http://schemas.openxmlformats.org/officeDocument/2006/relationships" id="258" r:id="R3dfd8c3290264ef7"/>
    <p:sldId xmlns:r="http://schemas.openxmlformats.org/officeDocument/2006/relationships" id="259" r:id="R40afc66e90a94a99"/>
    <p:sldId xmlns:r="http://schemas.openxmlformats.org/officeDocument/2006/relationships" id="260" r:id="R954f60caf2db4124"/>
    <p:sldId xmlns:r="http://schemas.openxmlformats.org/officeDocument/2006/relationships" id="261" r:id="Rff0ebbeb68194b4f"/>
    <p:sldId xmlns:r="http://schemas.openxmlformats.org/officeDocument/2006/relationships" id="262" r:id="R0d1fa13b43b64acb"/>
    <p:sldId xmlns:r="http://schemas.openxmlformats.org/officeDocument/2006/relationships" id="263" r:id="R34f66cedcaf94821"/>
    <p:sldId xmlns:r="http://schemas.openxmlformats.org/officeDocument/2006/relationships" id="264" r:id="R31399ed32dea47d0"/>
    <p:sldId xmlns:r="http://schemas.openxmlformats.org/officeDocument/2006/relationships" id="265" r:id="Rdd9b0ec70bd74fa8"/>
    <p:sldId xmlns:r="http://schemas.openxmlformats.org/officeDocument/2006/relationships" id="266" r:id="Rb74be3d0583f4b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26ee67c29e4e00" /><Relationship Type="http://schemas.openxmlformats.org/officeDocument/2006/relationships/slideMaster" Target="/ppt/slideMasters/slideMaster1.xml" Id="R8f6468d59bb64ea6" /><Relationship Type="http://schemas.openxmlformats.org/officeDocument/2006/relationships/notesMaster" Target="/ppt/notesMasters/notesMaster1.xml" Id="R85fe2795e9484b39" /><Relationship Type="http://schemas.openxmlformats.org/officeDocument/2006/relationships/presProps" Target="/ppt/presProps.xml" Id="R3eb377c671e14a3d" /><Relationship Type="http://schemas.openxmlformats.org/officeDocument/2006/relationships/tableStyles" Target="/ppt/tableStyles.xml" Id="R8c0ad733ba4e4ef6" /><Relationship Type="http://schemas.openxmlformats.org/officeDocument/2006/relationships/slide" Target="/ppt/slides/slide1.xml" Id="Rbd0a31b980ba44db" /><Relationship Type="http://schemas.openxmlformats.org/officeDocument/2006/relationships/slide" Target="/ppt/slides/slide2.xml" Id="Rfbb232caa3724950" /><Relationship Type="http://schemas.openxmlformats.org/officeDocument/2006/relationships/slide" Target="/ppt/slides/slide3.xml" Id="R3dfd8c3290264ef7" /><Relationship Type="http://schemas.openxmlformats.org/officeDocument/2006/relationships/slide" Target="/ppt/slides/slide4.xml" Id="R40afc66e90a94a99" /><Relationship Type="http://schemas.openxmlformats.org/officeDocument/2006/relationships/slide" Target="/ppt/slides/slide5.xml" Id="R954f60caf2db4124" /><Relationship Type="http://schemas.openxmlformats.org/officeDocument/2006/relationships/slide" Target="/ppt/slides/slide6.xml" Id="Rff0ebbeb68194b4f" /><Relationship Type="http://schemas.openxmlformats.org/officeDocument/2006/relationships/slide" Target="/ppt/slides/slide7.xml" Id="R0d1fa13b43b64acb" /><Relationship Type="http://schemas.openxmlformats.org/officeDocument/2006/relationships/slide" Target="/ppt/slides/slide8.xml" Id="R34f66cedcaf94821" /><Relationship Type="http://schemas.openxmlformats.org/officeDocument/2006/relationships/slide" Target="/ppt/slides/slide9.xml" Id="R31399ed32dea47d0" /><Relationship Type="http://schemas.openxmlformats.org/officeDocument/2006/relationships/slide" Target="/ppt/slides/slide10.xml" Id="Rdd9b0ec70bd74fa8" /><Relationship Type="http://schemas.openxmlformats.org/officeDocument/2006/relationships/slide" Target="/ppt/slides/slide11.xml" Id="Rb74be3d0583f4b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c34b401cd548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b66ec55e6043aa" /><Relationship Type="http://schemas.openxmlformats.org/officeDocument/2006/relationships/notesMaster" Target="/ppt/notesMasters/notesMaster1.xml" Id="R904fd7b561a84b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a4c93ba1ad42bb" /><Relationship Type="http://schemas.openxmlformats.org/officeDocument/2006/relationships/notesMaster" Target="/ppt/notesMasters/notesMaster1.xml" Id="R0ebdc1c449b240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7cb8a44387444a" /><Relationship Type="http://schemas.openxmlformats.org/officeDocument/2006/relationships/notesMaster" Target="/ppt/notesMasters/notesMaster1.xml" Id="R0028cd64375344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4191eab2b04bdc" /><Relationship Type="http://schemas.openxmlformats.org/officeDocument/2006/relationships/notesMaster" Target="/ppt/notesMasters/notesMaster1.xml" Id="R0862277d282a43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298103793a4a2b" /><Relationship Type="http://schemas.openxmlformats.org/officeDocument/2006/relationships/notesMaster" Target="/ppt/notesMasters/notesMaster1.xml" Id="R55c24eea429a46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c2fe7d5b6241ff" /><Relationship Type="http://schemas.openxmlformats.org/officeDocument/2006/relationships/notesMaster" Target="/ppt/notesMasters/notesMaster1.xml" Id="Rb2687e53eabf4d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1cb9b59b0f4850" /><Relationship Type="http://schemas.openxmlformats.org/officeDocument/2006/relationships/notesMaster" Target="/ppt/notesMasters/notesMaster1.xml" Id="R6be358eaee5340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c03f5e88074be7" /><Relationship Type="http://schemas.openxmlformats.org/officeDocument/2006/relationships/notesMaster" Target="/ppt/notesMasters/notesMaster1.xml" Id="Rd4e0aa06210d42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9795d098224bec" /><Relationship Type="http://schemas.openxmlformats.org/officeDocument/2006/relationships/notesMaster" Target="/ppt/notesMasters/notesMaster1.xml" Id="R7354dbe7664b43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30300aabc845ee" /><Relationship Type="http://schemas.openxmlformats.org/officeDocument/2006/relationships/notesMaster" Target="/ppt/notesMasters/notesMaster1.xml" Id="Rceada628bcf148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9a21f198c34c7c" /><Relationship Type="http://schemas.openxmlformats.org/officeDocument/2006/relationships/notesMaster" Target="/ppt/notesMasters/notesMaster1.xml" Id="R643d620df44745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0:00–0:30.</a:t>
            </a:r>
          </a:p>
          <a:p xmlns:a="http://schemas.openxmlformats.org/drawingml/2006/main">
            <a:r>
              <a:t>Mensagem: o PAC Digital transforma planejamento estático em gestão contínua.</a:t>
            </a:r>
          </a:p>
          <a:p xmlns:a="http://schemas.openxmlformats.org/drawingml/2006/main">
            <a:r>
              <a:t>Fala sugerida: “O PAC Digital acompanha cada contratação da necessidade à execução. Ele reúne governança, decisão, dados e integração em uma única carteira, com memória completa do que mudou e por quê.”</a:t>
            </a:r>
          </a:p>
          <a:p xmlns:a="http://schemas.openxmlformats.org/drawingml/2006/main">
            <a:r>
              <a:t>Transição: o primeiro ganho é superar a fragmentação atual.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https://github.com/M-4vlis/PAC-Digital-MPRJ/blob/main/STATUS.md</a:t>
            </a:r>
          </a:p>
          <a:p xmlns:a="http://schemas.openxmlformats.org/drawingml/2006/main">
            <a:r>
              <a:t>- https://github.com/M-4vlis/PAC-Digital-MPRJ/blob/main/docs/29-visao-executiva-v1-rc.md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0:30–1:10.</a:t>
            </a:r>
          </a:p>
          <a:p xmlns:a="http://schemas.openxmlformats.org/drawingml/2006/main">
            <a:r>
              <a:t>Mensagem: planilhas registram, mas não governam o ciclo completo.</a:t>
            </a:r>
          </a:p>
          <a:p xmlns:a="http://schemas.openxmlformats.org/drawingml/2006/main">
            <a:r>
              <a:t>Fala sugerida: “Hoje, valores, prazos, documentos e responsáveis podem ficar distribuídos. O risco aparece tarde e a decisão perde contexto. O projeto não elimina ferramentas úteis; ele cria a camada institucional de governança que falta entre o planejamento e a execução.”</a:t>
            </a:r>
          </a:p>
          <a:p xmlns:a="http://schemas.openxmlformats.org/drawingml/2006/main">
            <a:r>
              <a:t>Transição: essa camada organiza o fluxo de ponta a ponta.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https://github.com/M-4vlis/PAC-Digital-MPRJ/blob/main/docs/29-visao-executiva-v1-rc.md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1:10–1:55.</a:t>
            </a:r>
          </a:p>
          <a:p xmlns:a="http://schemas.openxmlformats.org/drawingml/2006/main">
            <a:r>
              <a:t>Mensagem: uma demanda passa por um ciclo único, sem perder histórico.</a:t>
            </a:r>
          </a:p>
          <a:p xmlns:a="http://schemas.openxmlformats.org/drawingml/2006/main">
            <a:r>
              <a:t>Fala sugerida: “A unidade registra, a governança valida, as autoridades aprovam conforme o fluxo, a execução acompanha processos e marcos, e a transparência publica somente o conteúdo aprovado. O dado é reaproveitado em todas as fases; não precisa ser reconstruído a cada etapa.”</a:t>
            </a:r>
          </a:p>
          <a:p xmlns:a="http://schemas.openxmlformats.org/drawingml/2006/main">
            <a:r>
              <a:t>Transição: o ganho começa no trabalho cotidiano do requisitante.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https://github.com/M-4vlis/PAC-Digital-MPRJ/blob/main/README.md</a:t>
            </a:r>
          </a:p>
          <a:p xmlns:a="http://schemas.openxmlformats.org/drawingml/2006/main">
            <a:r>
              <a:t>- https://github.com/M-4vlis/PAC-Digital-MPRJ/blob/main/docs/33-revisao-prontidao-institucional.md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1:55–2:40.</a:t>
            </a:r>
          </a:p>
          <a:p xmlns:a="http://schemas.openxmlformats.org/drawingml/2006/main">
            <a:r>
              <a:t>Mensagem: o DFD torna o cadastro completo, corrigível e auditável.</a:t>
            </a:r>
          </a:p>
          <a:p xmlns:a="http://schemas.openxmlformats.org/drawingml/2006/main">
            <a:r>
              <a:t>Fala sugerida: “O requisitante registra objeto, justificativa, quantidade, período, valor e responsáveis. O total é calculado, o documento pode ser anexado e um erro pode ser corrigido sem apagar a versão anterior. Cadastro indevido é retirado logicamente, sempre com justificativa.”</a:t>
            </a:r>
          </a:p>
          <a:p xmlns:a="http://schemas.openxmlformats.org/drawingml/2006/main">
            <a:r>
              <a:t>Atenção: retirada não apaga a trilha.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https://github.com/M-4vlis/PAC-Digital-MPRJ/blob/main/docs/34-matriz-requisitos-pac-dfd.md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2:40–3:25.</a:t>
            </a:r>
          </a:p>
          <a:p xmlns:a="http://schemas.openxmlformats.org/drawingml/2006/main">
            <a:r>
              <a:t>Mensagem: o sistema antecipa ação em vez de apenas registrar atraso.</a:t>
            </a:r>
          </a:p>
          <a:p xmlns:a="http://schemas.openxmlformats.org/drawingml/2006/main">
            <a:r>
              <a:t>Fala sugerida: “A data desejada gera marcos retroativos. O sistema compara o prazo restante com etapas configuráveis e explica cada alerta. Isso permite atuar antes de a contratação entrar em situação crítica. Os parâmetros são gerenciais, configuráveis e não normativos.”</a:t>
            </a:r>
          </a:p>
          <a:p xmlns:a="http://schemas.openxmlformats.org/drawingml/2006/main">
            <a:r>
              <a:t>Transição: esses alertas alimentam a visão da liderança.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https://github.com/M-4vlis/PAC-Digital-MPRJ/blob/main/STATUS.md</a:t>
            </a:r>
          </a:p>
          <a:p xmlns:a="http://schemas.openxmlformats.org/drawingml/2006/main">
            <a:r>
              <a:t>- https://github.com/M-4vlis/PAC-Digital-MPRJ/blob/main/docs/33-revisao-prontidao-institucional.md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3:25–4:10.</a:t>
            </a:r>
          </a:p>
          <a:p xmlns:a="http://schemas.openxmlformats.org/drawingml/2006/main">
            <a:r>
              <a:t>Mensagem: a alta administração enxerga prioridade, execução e mudança no mesmo painel.</a:t>
            </a:r>
          </a:p>
          <a:p xmlns:a="http://schemas.openxmlformats.org/drawingml/2006/main">
            <a:r>
              <a:t>Fala sugerida: “A visão executiva cruza planejado e realizado, riscos, inclusões, cancelamentos, reprogramações e ajustes pós-LOA. Cada indicador leva à demanda e à evidência. O painel não decide pela autoridade; ele reduz o tempo necessário para chegar à decisão correta.”</a:t>
            </a:r>
          </a:p>
          <a:p xmlns:a="http://schemas.openxmlformats.org/drawingml/2006/main">
            <a:r>
              <a:t>Transição: toda decisão continua verificável depois.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https://github.com/M-4vlis/PAC-Digital-MPRJ/blob/main/README.md</a:t>
            </a:r>
          </a:p>
          <a:p xmlns:a="http://schemas.openxmlformats.org/drawingml/2006/main">
            <a:r>
              <a:t>- https://github.com/M-4vlis/PAC-Digital-MPRJ/blob/main/docs/29-visao-executiva-v1-rc.md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4:10–4:55.</a:t>
            </a:r>
          </a:p>
          <a:p xmlns:a="http://schemas.openxmlformats.org/drawingml/2006/main">
            <a:r>
              <a:t>Mensagem: transparência e rastreabilidade são propriedades do fluxo, não relatórios produzidos depois.</a:t>
            </a:r>
          </a:p>
          <a:p xmlns:a="http://schemas.openxmlformats.org/drawingml/2006/main">
            <a:r>
              <a:t>Fala sugerida: “Revisões aprovadas criam versões. A adequação pós-LOA preserva valores original, revisado e ajustado. Aprovações registram etapa e papel. Planejamento e execução têm estados próprios. Assim, é possível responder quem alterou, quem aprovou, quando e com qual justificativa.”</a:t>
            </a:r>
          </a:p>
          <a:p xmlns:a="http://schemas.openxmlformats.org/drawingml/2006/main">
            <a:r>
              <a:t>Transição: a mesma prudência é aplicada aos dados externos.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https://github.com/M-4vlis/PAC-Digital-MPRJ/blob/main/docs/33-revisao-prontidao-institucional.md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4:55–5:50.</a:t>
            </a:r>
          </a:p>
          <a:p xmlns:a="http://schemas.openxmlformats.org/drawingml/2006/main">
            <a:r>
              <a:t>Mensagem: dados públicos do PNCP geram inteligência sem maquiar a qualidade da amostra.</a:t>
            </a:r>
          </a:p>
          <a:p xmlns:a="http://schemas.openxmlformats.org/drawingml/2006/main">
            <a:r>
              <a:t>Fala sugerida: “Foram importados 966 contratos públicos do MPRJ. Nove possuem datas suficientes para medir o intervalo observado. Como a cobertura é de 0,93%, a estatística permanece exploratória e não influencia o risco. O código exige pelo menos 30 observações válidas por categoria. Esse bloqueio é uma força: o sistema mostra o dado e também mostra seu limite.”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https://github.com/M-4vlis/PAC-Digital-MPRJ/blob/main/docs/35-metodologia-inteligencia-pncp.md</a:t>
            </a:r>
          </a:p>
          <a:p xmlns:a="http://schemas.openxmlformats.org/drawingml/2006/main">
            <a:r>
              <a:t>- https://pncp.gov.br/manual/pt-br/latest/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5:50–6:40.</a:t>
            </a:r>
          </a:p>
          <a:p xmlns:a="http://schemas.openxmlformats.org/drawingml/2006/main">
            <a:r>
              <a:t>Mensagem: a arquitetura foi desenhada para entrar no ecossistema institucional.</a:t>
            </a:r>
          </a:p>
          <a:p xmlns:a="http://schemas.openxmlformats.org/drawingml/2006/main">
            <a:r>
              <a:t>Fala sugerida: “O núcleo do PAC é independente. Identidade pode ser conectada por OIDC ou LDAP. O SEI tem vínculo local e ponto de integração preparado. O PNCP já fornece dados públicos e recebe um payload PCA pré-validado localmente. As transmissões reais permanecem bloqueadas até credencial, contrato técnico e homologação.”</a:t>
            </a:r>
          </a:p>
          <a:p xmlns:a="http://schemas.openxmlformats.org/drawingml/2006/main">
            <a:r>
              <a:t>Transição: isso separa produto pronto de dependências institucionais.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https://github.com/M-4vlis/PAC-Digital-MPRJ/blob/main/docs/36-guia-tecnico-integracoes.md</a:t>
            </a:r>
          </a:p>
          <a:p xmlns:a="http://schemas.openxmlformats.org/drawingml/2006/main">
            <a:r>
              <a:t>- https://pncp.gov.br/manual/pt-br/latest/plano_de_contratacao/inserir_plano_de_contratacoes.html</a:t>
            </a:r>
          </a:p>
          <a:p xmlns:a="http://schemas.openxmlformats.org/drawingml/2006/main">
            <a:r>
              <a:t>- https://manuais.processoeletronico.gov.br/pt-br/latest/SEIADM/Administracao_sei/Man_Adm_SEI_04-Administra%C3%A7%C3%A3o_SEI-11_Sistemas.html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6:40–7:20.</a:t>
            </a:r>
          </a:p>
          <a:p xmlns:a="http://schemas.openxmlformats.org/drawingml/2006/main">
            <a:r>
              <a:t>Mensagem: o produto está pronto para homologação, não para uso institucional irrestrito.</a:t>
            </a:r>
          </a:p>
          <a:p xmlns:a="http://schemas.openxmlformats.org/drawingml/2006/main">
            <a:r>
              <a:t>Fala sugerida: “O ciclo funcional, a governança, os relatórios, o banco e a recuperação já foram validados. Para produção, o MPRJ precisa definir identidade, perfis, unidades, regras oficiais, ambientes e credenciais de SEI e PNCP. São decisões institucionais, não lacunas que devam ser simuladas pelo projeto.”</a:t>
            </a:r>
          </a:p>
          <a:p xmlns:a="http://schemas.openxmlformats.org/drawingml/2006/main">
            <a:r>
              <a:t>Transição: por isso, o próximo passo é uma decisão objetiva.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https://github.com/M-4vlis/PAC-Digital-MPRJ/blob/main/STATUS.md</a:t>
            </a:r>
          </a:p>
          <a:p xmlns:a="http://schemas.openxmlformats.org/drawingml/2006/main">
            <a:r>
              <a:t>- https://github.com/M-4vlis/PAC-Digital-MPRJ/blob/main/RELEASE-CHECKLIST.md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7:20–7:45.</a:t>
            </a:r>
          </a:p>
          <a:p xmlns:a="http://schemas.openxmlformats.org/drawingml/2006/main">
            <a:r>
              <a:t>Mensagem: pedir autorização para homologação institucional.</a:t>
            </a:r>
          </a:p>
          <a:p xmlns:a="http://schemas.openxmlformats.org/drawingml/2006/main">
            <a:r>
              <a:t>Fala sugerida: “O PAC Digital já demonstra a passagem da planilha para uma gestão contínua, transparente, rastreável e integrável. A decisão proposta é autorizar a homologação institucional da v1.0 RC2, designar responsáveis e abrir os ambientes necessários para identidade, SEI e PNCP.”</a:t>
            </a:r>
          </a:p>
          <a:p xmlns:a="http://schemas.openxmlformats.org/drawingml/2006/main">
            <a:r>
              <a:t>Demonstração: o endereço exibido é público, sem login, com carteira fictícia e transmissões externas bloqueadas.</a:t>
            </a:r>
          </a:p>
          <a:p xmlns:a="http://schemas.openxmlformats.org/drawingml/2006/main">
            <a:r>
              <a:t>Pare após o pedido e aguarde perguntas.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https://github.com/M-4vlis/PAC-Digital-MPRJ/blob/main/docs/30-plano-homologacao-institucional.md</a:t>
            </a:r>
          </a:p>
          <a:p xmlns:a="http://schemas.openxmlformats.org/drawingml/2006/main">
            <a:r>
              <a:t>- https://github.com/M-4vlis/PAC-Digital-MPRJ/blob/main/STATUS.md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1b2cf808445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01d34c7d014c31" /><Relationship Type="http://schemas.openxmlformats.org/officeDocument/2006/relationships/slideLayout" Target="/ppt/slideLayouts/slideLayout1.xml" Id="R6953948589c14c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53948589c14c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c81beb4414e55" /><Relationship Type="http://schemas.openxmlformats.org/officeDocument/2006/relationships/image" Target="/ppt/media/image.png" Id="R8047144bf6704ff5" /><Relationship Type="http://schemas.openxmlformats.org/officeDocument/2006/relationships/notesSlide" Target="/ppt/notesSlides/notesSlide1.xml" Id="Rc8c03567f81f45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f74fae4e84fe8" /><Relationship Type="http://schemas.openxmlformats.org/officeDocument/2006/relationships/image" Target="/ppt/media/image2.png" Id="R403dfc79b49b4427" /><Relationship Type="http://schemas.openxmlformats.org/officeDocument/2006/relationships/notesSlide" Target="/ppt/notesSlides/notesSlide2.xml" Id="R443c60f66dc946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ece14f4714755" /><Relationship Type="http://schemas.openxmlformats.org/officeDocument/2006/relationships/image" Target="/ppt/media/image3.png" Id="Rf49803e09fe64db7" /><Relationship Type="http://schemas.openxmlformats.org/officeDocument/2006/relationships/notesSlide" Target="/ppt/notesSlides/notesSlide3.xml" Id="R9e861b9200a743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30175da49482e" /><Relationship Type="http://schemas.openxmlformats.org/officeDocument/2006/relationships/image" Target="/ppt/media/image4.png" Id="R4b609c0fc5b64824" /><Relationship Type="http://schemas.openxmlformats.org/officeDocument/2006/relationships/notesSlide" Target="/ppt/notesSlides/notesSlide4.xml" Id="R5cf64827217f40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62eb08ca74955" /><Relationship Type="http://schemas.openxmlformats.org/officeDocument/2006/relationships/image" Target="/ppt/media/image5.png" Id="Rfc127ae11b1e40f1" /><Relationship Type="http://schemas.openxmlformats.org/officeDocument/2006/relationships/notesSlide" Target="/ppt/notesSlides/notesSlide5.xml" Id="R98c2b0fbcb174b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37eda62b04d2b" /><Relationship Type="http://schemas.openxmlformats.org/officeDocument/2006/relationships/image" Target="/ppt/media/image6.png" Id="R01a01e0ca5074037" /><Relationship Type="http://schemas.openxmlformats.org/officeDocument/2006/relationships/notesSlide" Target="/ppt/notesSlides/notesSlide6.xml" Id="R1adb76d1d07c49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7e90eb1174c40" /><Relationship Type="http://schemas.openxmlformats.org/officeDocument/2006/relationships/image" Target="/ppt/media/image7.png" Id="R2ebafb14002840ff" /><Relationship Type="http://schemas.openxmlformats.org/officeDocument/2006/relationships/notesSlide" Target="/ppt/notesSlides/notesSlide7.xml" Id="R5dbac88525c942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64fb204714042" /><Relationship Type="http://schemas.openxmlformats.org/officeDocument/2006/relationships/image" Target="/ppt/media/image8.png" Id="R069792f7160b4b81" /><Relationship Type="http://schemas.openxmlformats.org/officeDocument/2006/relationships/notesSlide" Target="/ppt/notesSlides/notesSlide8.xml" Id="Rb8c7d33d3d4b48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9f26be74244cc" /><Relationship Type="http://schemas.openxmlformats.org/officeDocument/2006/relationships/image" Target="/ppt/media/image9.png" Id="R074510fecbc94d3c" /><Relationship Type="http://schemas.openxmlformats.org/officeDocument/2006/relationships/notesSlide" Target="/ppt/notesSlides/notesSlide9.xml" Id="R9d1f8c2f558044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9ca2604f447f6" /><Relationship Type="http://schemas.openxmlformats.org/officeDocument/2006/relationships/image" Target="/ppt/media/image10.png" Id="Rd63c83867e874454" /><Relationship Type="http://schemas.openxmlformats.org/officeDocument/2006/relationships/notesSlide" Target="/ppt/notesSlides/notesSlide10.xml" Id="Rfa31d99b72d143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7302d64e04031" /><Relationship Type="http://schemas.openxmlformats.org/officeDocument/2006/relationships/image" Target="/ppt/media/image11.png" Id="Rdf1d93dcc9b34a80" /><Relationship Type="http://schemas.openxmlformats.org/officeDocument/2006/relationships/notesSlide" Target="/ppt/notesSlides/notesSlide11.xml" Id="R350b3eb3e4c640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2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4B157-96B1-4934-89CB-1FDCB621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7144bf6704ff5"/>
          <a:stretch xmlns:a="http://schemas.openxmlformats.org/drawingml/2006/main"/>
        </p:blipFill>
        <p:spPr>
          <a:xfrm xmlns:a="http://schemas.openxmlformats.org/drawingml/2006/main">
            <a:off x="685800" y="517916"/>
            <a:ext cx="1952625" cy="59294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54461-E403-4410-9121-56B94C0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9A3A"/>
                </a:solidFill>
              </a:defRPr>
            </a:pPr>
            <a:r>
              <a:rPr sz="1350" b="1">
                <a:solidFill>
                  <a:srgbClr val="C49A3A"/>
                </a:solidFill>
              </a:rPr>
              <a:t>PAC DIGITAL MPRJ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E75CD-8471-4B6D-A0A0-C332E971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Planejamento que vira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governança, decisão e execução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EC327-2E13-48E2-BCF2-841F0106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7D5DB"/>
                </a:solidFill>
              </a:defRPr>
            </a:pPr>
            <a:r>
              <a:rPr sz="1575" b="0">
                <a:solidFill>
                  <a:srgbClr val="E7D5DB"/>
                </a:solidFill>
              </a:rPr>
              <a:t>Candidata v1.0 RC2 • apresentação executiva • 5–10 minutos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59B99-D757-4C8A-B6FB-8E76EF41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5049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B3D13-8A1E-4467-B453-7B6A4EBD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OPEN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D098C-1A28-4805-B893-6AE6274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1257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8D01A-1A08-4CCE-B5D4-E2E2A649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PORTÁTIL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D6B1D-F393-4595-83B6-B9592C2F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67300"/>
            <a:ext cx="1657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BDFA4-B70F-4B43-BA27-0667BFB2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673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INTEGRÁVEL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6419F-A98B-4D3E-B3EC-2F9EA230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DB6BE"/>
                </a:solidFill>
              </a:defRPr>
            </a:pPr>
            <a:r>
              <a:rPr sz="900" b="0">
                <a:solidFill>
                  <a:srgbClr val="CDB6BE"/>
                </a:solidFill>
              </a:rPr>
              <a:t>Ambiente demonstrativo público • carteira fictícia</a:t>
            </a:r>
          </a:p>
        </p:txBody>
      </p:sp>
    </p:spTree>
    <p:extLst>
      <p:ext uri="{BB962C8B-B14F-4D97-AF65-F5344CB8AC3E}">
        <p14:creationId xmlns:p14="http://schemas.microsoft.com/office/powerpoint/2010/main" val="1574282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80B42-EA05-4AD4-AD37-7509A996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dfc79b49b4427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24528-7DB9-4C1E-AA9B-01EDF59C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O DESAFIO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C028A-F4C6-45BE-889E-C922B23C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ADCF6-BF17-4694-B792-D4F836E5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PONTO DE PARTIDA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12D3A-DF40-4064-9EF4-F965E0F8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A planilha registra; a instituição precisa governar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72FFF-38E4-444A-9FA8-FAA8033A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Sem uma carteira única, a liderança recebe o problema tarde e perde a memória das decisões.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988E2-BAFE-4D63-B01B-1E48625D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238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E2AE8-7EC0-4476-9C1A-A1D91D13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6200" cy="1943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383D"/>
          </a:solidFill>
          <a:ln xmlns:a="http://schemas.openxmlformats.org/drawingml/2006/main" w="0">
            <a:solidFill>
              <a:srgbClr val="A238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015CB-39F8-4B84-AE17-EF06D346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VISÃO FRAGMENTADA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64F7D-1E1D-4CEB-BCAD-0546ACF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A2383D"/>
                </a:solidFill>
              </a:defRPr>
            </a:pPr>
            <a:r>
              <a:rPr sz="2325" b="1">
                <a:solidFill>
                  <a:srgbClr val="A2383D"/>
                </a:solidFill>
              </a:rPr>
              <a:t>Muitas fontes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452FC-CB4E-4604-9C34-43F45215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Valores, prazos, responsáveis e documentos ficam separados.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C4400-2649-4C3E-B3E8-2676B978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ECF67-1EF4-4FB0-9DE4-1FAAF171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76200" cy="1943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DBDA1-2252-4EA3-9C39-5A9FEF35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05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GESTÃO REATIVA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33AD9-15AE-4008-BE8B-F2A95924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90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Risco tardio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58C80-8C97-49C1-B609-72F6859E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243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Atrasos aparecem quando o espaço para agir já diminuiu.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38BAA-450A-4B1F-A8DC-30D291DB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238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FCB03-DDE0-47D9-B261-34CEF3EA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76200" cy="1943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72"/>
          </a:solidFill>
          <a:ln xmlns:a="http://schemas.openxmlformats.org/drawingml/2006/main" w="0">
            <a:solidFill>
              <a:srgbClr val="315B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8A1B9-5194-4C45-A750-F9A3AFA6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05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BAIXA MEMÓRIA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B28D2-E512-48FA-A0B3-E89CCE9D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90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15B72"/>
                </a:solidFill>
              </a:defRPr>
            </a:pPr>
            <a:r>
              <a:rPr sz="2325" b="1">
                <a:solidFill>
                  <a:srgbClr val="315B72"/>
                </a:solidFill>
              </a:rPr>
              <a:t>Pouca trilha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7F582-A333-4E0C-97F3-645873D3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243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Alterações e decisões perdem contexto ao longo do exercício.</a:t>
            </a:r>
          </a:p>
        </p:txBody>
      </p:sp>
    </p:spTree>
    <p:extLst>
      <p:ext uri="{BB962C8B-B14F-4D97-AF65-F5344CB8AC3E}">
        <p14:creationId xmlns:p14="http://schemas.microsoft.com/office/powerpoint/2010/main" val="901132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8675D-A40F-4F35-9F4A-0834855E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803e09fe64db7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45014-ADA6-42BC-AB9F-44CAE34D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A SOLUÇÃO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F2E78-9A25-4F2F-9929-509C91BD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AF70F-9083-403D-A8C6-3F0525C4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CICLO ÚNICO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73CEA-BD66-4F8E-9996-8E926638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Da necessidade à execução, sem perder contexto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9BCF2-FBB6-4319-A6E2-471D61BF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Cada demanda mantém valor, prazo, responsáveis, versões, aprovações, execução e evidências.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8C1B9-6DAD-4E32-B8FE-2AE7F67F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4DFD7-D528-424F-AEAB-F278E279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6265"/>
                </a:solidFill>
              </a:defRPr>
            </a:pPr>
            <a:r>
              <a:rPr sz="900" b="1">
                <a:solidFill>
                  <a:srgbClr val="6B626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46B57-D425-48D0-AEA6-5EBE056E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REGISTRAR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3330E-AA1F-4A5D-B394-742638EF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624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9A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1F5E0-AD14-4203-BFB1-A6F579E8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DEC29-70A8-410A-85E2-D20F0F53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6265"/>
                </a:solidFill>
              </a:defRPr>
            </a:pPr>
            <a:r>
              <a:rPr sz="900" b="1">
                <a:solidFill>
                  <a:srgbClr val="6B626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3856F-EAFE-4ED9-8C19-2134AAE3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VALIDAR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43A34-8A05-4D56-AABC-53162BAC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624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9A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C4F52-DBFD-442C-ADAC-544F33A9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EEAEA-0EF6-4CEF-B004-D096261A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6265"/>
                </a:solidFill>
              </a:defRPr>
            </a:pPr>
            <a:r>
              <a:rPr sz="900" b="1">
                <a:solidFill>
                  <a:srgbClr val="6B626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FF310-39FA-417B-9C8A-30949658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APROVAR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13D2C-7348-42EA-A756-A7D13D88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624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9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655BD-824B-4C6F-8C5B-77901F0A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64FA0-AE7F-42D8-B196-3C3DD21D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6265"/>
                </a:solidFill>
              </a:defRPr>
            </a:pPr>
            <a:r>
              <a:rPr sz="900" b="1">
                <a:solidFill>
                  <a:srgbClr val="6B6265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250D4-C212-47F0-B604-6F360D96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EXECUTAR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83E96-BC5A-4E8B-8771-60D1F8BF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624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9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398FC-C35D-4C0F-A2E4-2661FA39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525D0-B750-4434-8E6F-569AB52D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49A3A"/>
                </a:solidFill>
              </a:defRPr>
            </a:pPr>
            <a:r>
              <a:rPr sz="900" b="1">
                <a:solidFill>
                  <a:srgbClr val="C49A3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FD9322-8123-46B1-A3D8-0856D0AD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PUBLICAR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AD87A-AD62-4323-9B5A-AB24C5F7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42101F"/>
                </a:solidFill>
              </a:defRPr>
            </a:pPr>
            <a:r>
              <a:rPr sz="1575" b="1">
                <a:solidFill>
                  <a:srgbClr val="42101F"/>
                </a:solidFill>
              </a:rPr>
              <a:t>Uma carteira • regras explícitas • decisões auditáveis</a:t>
            </a:r>
          </a:p>
        </p:txBody>
      </p:sp>
    </p:spTree>
    <p:extLst>
      <p:ext uri="{BB962C8B-B14F-4D97-AF65-F5344CB8AC3E}">
        <p14:creationId xmlns:p14="http://schemas.microsoft.com/office/powerpoint/2010/main" val="1499018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6B84A6-D54C-4916-A6B5-C353A170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09c0fc5b64824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64E76-6BE1-43A3-B7FA-3727398B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UNIDADE REQUISITANTE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4D6AA-6FC9-4DD9-92F0-FC33F947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8F716-7737-4C7C-8A87-C7EFD0AB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DFD COMPLETO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F8979-DE04-4015-AE50-836853A6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Registrar, corrigir e retirar com segurança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B7683-2276-4AE9-91D1-DEEE9914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O formulário reúne os elementos essenciais; toda correção preserva histórico e toda retirada exige justificativa.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94460-6F78-42DA-B33E-293335C6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9DA30-7467-44D0-8971-73703648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A52"/>
          </a:solidFill>
          <a:ln xmlns:a="http://schemas.openxmlformats.org/drawingml/2006/main" w="0">
            <a:solidFill>
              <a:srgbClr val="1F6A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938B0-5B9F-41C5-9EEE-06E6A00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ADERÊNCIA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59EDF-3FD0-41D1-B7C4-97B80BB0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6A52"/>
                </a:solidFill>
              </a:defRPr>
            </a:pPr>
            <a:r>
              <a:rPr sz="2325" b="1">
                <a:solidFill>
                  <a:srgbClr val="1F6A52"/>
                </a:solidFill>
              </a:rPr>
              <a:t>Campos essenciais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F4FFA-F517-4069-AF70-2E35D4C0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Objeto, justificativa, quantidade, período, valor e responsabilidade.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9193A-63C7-4C45-A614-C54B8FAF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733A3-89F3-45A6-B740-1549DA05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72"/>
          </a:solidFill>
          <a:ln xmlns:a="http://schemas.openxmlformats.org/drawingml/2006/main" w="0">
            <a:solidFill>
              <a:srgbClr val="315B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7CD4F-2348-4F37-8D77-2B67873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VALORES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C71FD-D0A3-46E8-B812-5BE24266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15B72"/>
                </a:solidFill>
              </a:defRPr>
            </a:pPr>
            <a:r>
              <a:rPr sz="2325" b="1">
                <a:solidFill>
                  <a:srgbClr val="315B72"/>
                </a:solidFill>
              </a:rPr>
              <a:t>Cálculo assistido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A6457-35CE-4A6D-BA30-2253287A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Quantidade × valor unitário, com formatação brasileira e total validado.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345AE-9904-4027-95C7-36047E47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66E28-E0F7-4A24-A89A-665ECBCD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087BD-818C-4AE6-AD15-4664D9FC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DOCUMENTO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E7356-10B2-4635-A168-3F65A5B8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Anexo do DFD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7A8EC-FFF2-4D13-B294-4C07CC76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PDF, DOC ou DOCX, até 8 MiB, enquanto o SEI não estiver conectado.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B4264-F088-4212-8AC8-5CF96DE7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3FD16-62D6-4E70-AF71-2600D349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7E29D-53E5-4607-8EB2-0F21E7AC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CORREÇÃO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36347-47D2-4475-886E-E7735DBC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681C32"/>
                </a:solidFill>
              </a:defRPr>
            </a:pPr>
            <a:r>
              <a:rPr sz="2325" b="1">
                <a:solidFill>
                  <a:srgbClr val="681C32"/>
                </a:solidFill>
              </a:rPr>
              <a:t>Nova versão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7112C-D556-44FE-81B3-E7DC7328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Rascunho pode ser editado ou retirado, com justificativa e auditoria.</a:t>
            </a:r>
          </a:p>
        </p:txBody>
      </p:sp>
    </p:spTree>
    <p:extLst>
      <p:ext uri="{BB962C8B-B14F-4D97-AF65-F5344CB8AC3E}">
        <p14:creationId xmlns:p14="http://schemas.microsoft.com/office/powerpoint/2010/main" val="1884225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7AFC86-9AD3-4350-AA6F-D21BC7A1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27ae11b1e40f1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202CD-D673-485F-A29D-E916D27D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ANTECIPAÇÃO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5ED5D-905F-44B2-BB28-24A41BC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62BAD-C057-4E32-9839-9ADDF05A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RISCO E RETROPLANEJAMENTO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C9DED-87DB-4F81-BD08-EF2B5808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Agir antes do prazo ficar crítico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20B3-5D63-4C80-877B-4FF2F66B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A data desejada gera marcos anteriores; cada alerta mostra a regra aplicada e o prazo restante.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DCAC4-C6E6-48E5-8EE8-EB10032C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00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4B7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35D09-22C7-40DD-9803-64DFAAD5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46BC9-B41E-42B8-AD4B-8A7B90E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6A0E3-303F-4C48-92B2-8674A46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DEMANDA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FD361-F8D7-41E0-B0FC-4C1C9CE5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escopo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C9E9D-69F9-4EC7-96CF-BA258BBC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BB5B7-D88C-4F56-B4C2-C659DAA1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91B71-753E-4BAA-B822-B251C63D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PREPARAÇÃO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C3C81-CA78-4C8A-A720-A97B85A8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estudo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7452F-748A-40CB-A09B-176DEF53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A8886-D024-42FA-BC96-671C5606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97CB0-327C-4B89-AD8C-DB2E0386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SELEÇÃO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D80E34-D7CA-48BF-BB5E-62A8151A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edital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F2A44-F4F2-42A3-8881-725B863D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8D5E4D-8A30-4356-93DA-3981AB29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385763-F684-4B9C-B4B4-79CBC1F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CONTRATAÇÃO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3E044-275E-4A61-BD8C-E60A05D2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assinatura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28615-93AD-4B24-9293-ED8FBF4E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C372E-A308-44A7-8377-035FED22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4F684-B761-4E6E-A0EF-AF81F236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ENTREGA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CB804-3FF0-4F74-9FB0-BBEB5B7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resultado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AFA9C-B528-4B29-B319-A59DF2FB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38576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2C3"/>
          </a:solidFill>
          <a:ln xmlns:a="http://schemas.openxmlformats.org/drawingml/2006/main" w="0">
            <a:solidFill>
              <a:srgbClr val="F0E2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B98CE7-35C4-4AC9-9DCA-1537B58A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2101F"/>
                </a:solidFill>
              </a:defRPr>
            </a:pPr>
            <a:r>
              <a:rPr sz="975" b="1">
                <a:solidFill>
                  <a:srgbClr val="42101F"/>
                </a:solidFill>
              </a:rPr>
              <a:t>Parâmetros configuráveis • uso gerencial • não normativos</a:t>
            </a:r>
          </a:p>
        </p:txBody>
      </p:sp>
    </p:spTree>
    <p:extLst>
      <p:ext uri="{BB962C8B-B14F-4D97-AF65-F5344CB8AC3E}">
        <p14:creationId xmlns:p14="http://schemas.microsoft.com/office/powerpoint/2010/main" val="1136768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8FB5A0-0722-4CD9-A83C-29410D81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01e0ca5074037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4CB99-FE1B-49CA-8EAB-07CED0A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VISÃO EXECUTIVA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9143B-8FA4-4019-ABBA-3ED0297B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1AD6F-1788-4D5D-A56C-259A11B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DECISÃO EM UMA PÁGINA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AD85C-84B1-499B-BFBD-767EE450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A liderança enxerga o que exige 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17AF2-DBB8-455D-A3BD-6461CC77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Planejado × executado, alterações, riscos, inclusões, cancelamentos e reprogramações no mesmo painel.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A61F0-959C-418F-9F65-002C7478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4955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F491A-6B8A-4982-9A71-BD9254D0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FF5AB-9352-4382-AEEA-A0C87515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PLANEJAMENTO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8974D-F733-482B-A1FF-E4DA0B44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681C32"/>
                </a:solidFill>
              </a:defRPr>
            </a:pPr>
            <a:r>
              <a:rPr sz="2325" b="1">
                <a:solidFill>
                  <a:srgbClr val="681C32"/>
                </a:solidFill>
              </a:rPr>
              <a:t>Orçamento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B85F1-0605-424E-9882-6B77DE8C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Valores originais, revisados e ajustados após a LOA.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1D76B-736A-4DE3-AC8F-1C38ACCA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24955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CA179-FC30-425B-B6E8-6BA7D368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A52"/>
          </a:solidFill>
          <a:ln xmlns:a="http://schemas.openxmlformats.org/drawingml/2006/main" w="0">
            <a:solidFill>
              <a:srgbClr val="1F6A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9D6A4-80CB-493C-A064-491DDBC9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62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EXECUÇÃO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B4292-D03E-4569-AE82-818BE8E5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481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6A52"/>
                </a:solidFill>
              </a:defRPr>
            </a:pPr>
            <a:r>
              <a:rPr sz="2325" b="1">
                <a:solidFill>
                  <a:srgbClr val="1F6A52"/>
                </a:solidFill>
              </a:rPr>
              <a:t>Realizado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EFD60-2F23-4ECC-B228-0B0AE217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Processo, marcos, resultado e valor contratado.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724C3-4AF0-4C87-B0D5-93B2F09F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24955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8E209-012D-49DD-BE7C-2FD329AD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263F8-45BE-4B7C-8CEC-B6D8C290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MUDANÇAS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A8D1E-44A5-4CC9-A3C3-26E0CCC5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Rastreáveis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44CBC-82CF-4BA9-A7AB-4EA7AEB3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81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Revisões, inclusões, cancelamentos e reprogramações.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557A9-FB41-4BCD-B0DE-8A5753D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24955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25DB5-6923-46E7-8A2E-88577916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383D"/>
          </a:solidFill>
          <a:ln xmlns:a="http://schemas.openxmlformats.org/drawingml/2006/main" w="0">
            <a:solidFill>
              <a:srgbClr val="A238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10619-4475-4CD0-9F3C-AD67D21C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62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RISCOS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C37C43-DBA2-4F5F-A1C8-5BC9791A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481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A2383D"/>
                </a:solidFill>
              </a:defRPr>
            </a:pPr>
            <a:r>
              <a:rPr sz="2325" b="1">
                <a:solidFill>
                  <a:srgbClr val="A2383D"/>
                </a:solidFill>
              </a:rPr>
              <a:t>Explicáveis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EF441-64E2-43CE-AD09-EE672F61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81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Motivo, prazo e ação recomendada — sem caixa-preta.</a:t>
            </a:r>
          </a:p>
        </p:txBody>
      </p:sp>
    </p:spTree>
    <p:extLst>
      <p:ext uri="{BB962C8B-B14F-4D97-AF65-F5344CB8AC3E}">
        <p14:creationId xmlns:p14="http://schemas.microsoft.com/office/powerpoint/2010/main" val="19290328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3918C2-5A67-48F4-B282-8EE62BB9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afb14002840ff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7E422-4470-4830-A4DD-610230E1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GOVERNANÇA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35D3B-D1DB-4E2E-BF57-E260BE4E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DF044-2125-4A55-9D32-DCDE8EF9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RASTREABILIDADE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9D261-A04D-42FA-9F25-594B8F37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Toda mudança deixa evidência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72A9C-65C0-4CB6-A56C-7625E93F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Versões, justificativas, aprovações e eventos preservam o contexto e a autoria da decisão.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65784-8542-4E33-B00C-72612B0C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472D9-3000-43CE-9CA2-2E2A32D2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Revisão aprovada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500CA-CBDF-4761-9943-B01A1518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19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11B1D"/>
                </a:solidFill>
              </a:defRPr>
            </a:pPr>
            <a:r>
              <a:rPr sz="1125" b="0">
                <a:solidFill>
                  <a:srgbClr val="211B1D"/>
                </a:solidFill>
              </a:rPr>
              <a:t>gera nova versão da demanda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3C5CD-F13B-441A-9568-21B3F69A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15B72"/>
                </a:solidFill>
              </a:defRPr>
            </a:pPr>
            <a:r>
              <a:rPr sz="1050" b="1">
                <a:solidFill>
                  <a:srgbClr val="315B72"/>
                </a:solidFill>
              </a:rPr>
              <a:t>Histórico preservado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4B0B1-4102-4AD2-AD76-D6353F66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E8EA"/>
          </a:solidFill>
          <a:ln xmlns:a="http://schemas.openxmlformats.org/drawingml/2006/main" w="0">
            <a:solidFill>
              <a:srgbClr val="E2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F2FEA-F831-4629-B9C3-CDD77167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Adequação pós-LOA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466FC-361F-4CC6-A452-562F2680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11B1D"/>
                </a:solidFill>
              </a:defRPr>
            </a:pPr>
            <a:r>
              <a:rPr sz="1125" b="0">
                <a:solidFill>
                  <a:srgbClr val="211B1D"/>
                </a:solidFill>
              </a:rPr>
              <a:t>mantém valor original, revisado e ajustado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56426-2E3C-43B6-8143-AF6EC138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15B72"/>
                </a:solidFill>
              </a:defRPr>
            </a:pPr>
            <a:r>
              <a:rPr sz="1050" b="1">
                <a:solidFill>
                  <a:srgbClr val="315B72"/>
                </a:solidFill>
              </a:rPr>
              <a:t>Justificativa obrigatória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EDCA6-C3F0-475B-B3AC-9D694EE8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F7855-FEE2-4A0C-9CF6-9F2BF202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Aprovação por etapa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DA317-54D3-4099-89FD-DDBA96C3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958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11B1D"/>
                </a:solidFill>
              </a:defRPr>
            </a:pPr>
            <a:r>
              <a:rPr sz="1125" b="0">
                <a:solidFill>
                  <a:srgbClr val="211B1D"/>
                </a:solidFill>
              </a:rPr>
              <a:t>perfil, alçada e decisão registrados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FD426-349C-4FCF-8E32-7C432697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15B72"/>
                </a:solidFill>
              </a:defRPr>
            </a:pPr>
            <a:r>
              <a:rPr sz="1050" b="1">
                <a:solidFill>
                  <a:srgbClr val="315B72"/>
                </a:solidFill>
              </a:rPr>
              <a:t>Fluxo configurável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A1790-F40C-4641-88F8-4FC04343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E8EA"/>
          </a:solidFill>
          <a:ln xmlns:a="http://schemas.openxmlformats.org/drawingml/2006/main" w="0">
            <a:solidFill>
              <a:srgbClr val="E2D4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C6F67-9694-4063-923F-B601B6AF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Planejamento × execução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F073C-299D-493E-836D-37382A72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339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11B1D"/>
                </a:solidFill>
              </a:defRPr>
            </a:pPr>
            <a:r>
              <a:rPr sz="1125" b="0">
                <a:solidFill>
                  <a:srgbClr val="211B1D"/>
                </a:solidFill>
              </a:rPr>
              <a:t>estados independentes e coerentes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8E8F3-0AB4-4DA5-B1DE-ECC54CB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339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6A52"/>
                </a:solidFill>
              </a:defRPr>
            </a:pPr>
            <a:r>
              <a:rPr sz="1050" b="1">
                <a:solidFill>
                  <a:srgbClr val="1F6A52"/>
                </a:solidFill>
              </a:rPr>
              <a:t>Auditoria completa</a:t>
            </a:r>
          </a:p>
        </p:txBody>
      </p:sp>
    </p:spTree>
    <p:extLst>
      <p:ext uri="{BB962C8B-B14F-4D97-AF65-F5344CB8AC3E}">
        <p14:creationId xmlns:p14="http://schemas.microsoft.com/office/powerpoint/2010/main" val="340596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2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B5E1C-0D28-4AF7-90C5-D1F13AB2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792f7160b4b81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4ACC1-ADC6-4E48-AE27-EEE60893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E9D9DE"/>
                </a:solidFill>
              </a:defRPr>
            </a:pPr>
            <a:r>
              <a:rPr sz="900" b="1">
                <a:solidFill>
                  <a:srgbClr val="E9D9DE"/>
                </a:solidFill>
              </a:rPr>
              <a:t>INTELIGÊNCIA PNCP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6C8D3-A7B0-4351-8A4F-6ADD774A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D5BDC5"/>
                </a:solidFill>
              </a:defRPr>
            </a:pPr>
            <a:r>
              <a:rPr sz="825" b="1">
                <a:solidFill>
                  <a:srgbClr val="D5BDC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DD39D-8C9F-4527-BA6C-2DB1269A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DADOS PÚBLICOS • USO RESPONSÁVEL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7646D-A70F-4FE8-B5CB-63EDB595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Histórico real, sem misturar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com a carteira fictícia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C7837-5455-4A34-B8B8-477395E0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DCE0"/>
                </a:solidFill>
              </a:defRPr>
            </a:pPr>
            <a:r>
              <a:rPr sz="1500" b="0">
                <a:solidFill>
                  <a:srgbClr val="E8DCE0"/>
                </a:solidFill>
              </a:rPr>
              <a:t>A base pública cria referências exploratórias; o risco só usa estatística quando a amostra é suficiente.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2B52A-4715-4F9E-81AB-247534DE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857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4F2C2-2C7F-4CA2-87DD-7E64D4C0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762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699FC-05CF-4736-B936-0C86A72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POPULAÇÃO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0486C-8DFC-4841-897A-131BDB3D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966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61DCD-5246-45D6-90F8-6FCFE7CC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contratos importados • CNPJ do MPRJ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E1617-D158-4D16-A4EF-AB1B63FD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29050"/>
            <a:ext cx="2857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D88FE-36B9-4990-89B1-E913F4BE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29050"/>
            <a:ext cx="762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A7AE7-6919-4237-8A01-5300AAD1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AMOSTRA TEMPORAL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91889-B5E6-4066-BE55-EAD8CC53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86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9 de 966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80814-6B22-49B7-8AE6-0CC73BD1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19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prazos públicos calculáveis • 0,93%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38371-7667-4D61-827A-87B30D5E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2857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E7AAC-7C68-4891-816D-D6EC6D25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762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9751A-329D-4A77-AD84-CCB9B619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REGRA DE USO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1675C-A855-4326-AC22-BA2751E4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n ≥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24B33-0064-401B-B1AA-9E34DCCB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19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por categoria para influenciar o risco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D7CC0-D269-4AF4-87CB-F8C31D2A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857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3CF79-691A-4000-B00C-E15FF31B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Sem fornecedores armazenados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D3530-3C21-4862-AAF5-DD221211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734050"/>
            <a:ext cx="2857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5E6C5-085D-40AC-BB1F-30C92EB0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734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Sincronização incremental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CBAA6-9A5B-444B-A865-5F5571B1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34050"/>
            <a:ext cx="2381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B6150-9B1A-4A4A-8380-15C91BC0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34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Proveniência preservada</a:t>
            </a:r>
          </a:p>
        </p:txBody>
      </p:sp>
    </p:spTree>
    <p:extLst>
      <p:ext uri="{BB962C8B-B14F-4D97-AF65-F5344CB8AC3E}">
        <p14:creationId xmlns:p14="http://schemas.microsoft.com/office/powerpoint/2010/main" val="8175139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9E48E2-3467-4422-A54E-F179CB2B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510fecbc94d3c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FC797-69F7-4B13-AA12-E647B9AA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INTEROPERABILIDADE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1F20B-54B4-4974-8196-58AE7777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75BD9-412A-481A-856C-0AD48909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MATRIZ DE VERDADE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E0826-AB52-40FC-AB77-787F120B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Integrações preparadas, transmissões bloqueadas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1F41D-1065-45FB-8C9B-B6B1DEB8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O núcleo do PAC permanece independente; cada conexão real exige contrato, credencial e homologação institucional.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E39D2-D511-4EB9-9884-FCAF9EE7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76600"/>
            <a:ext cx="3143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8D592-7B72-4AB5-B98B-9DD53F43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PAC DIGITAL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69FB8-602F-463D-8E9D-BACF5D9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290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E9D7DD"/>
                </a:solidFill>
              </a:defRPr>
            </a:pPr>
            <a:r>
              <a:rPr sz="1200" b="0">
                <a:solidFill>
                  <a:srgbClr val="E9D7DD"/>
                </a:solidFill>
              </a:rPr>
              <a:t>núcleo de governança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F6664-C0E3-4D54-8478-7ED14D1B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0D3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8B3F8-BF03-4BD1-A0E2-9C3D5C25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15B72"/>
                </a:solidFill>
              </a:defRPr>
            </a:pPr>
            <a:r>
              <a:rPr sz="1200" b="1">
                <a:solidFill>
                  <a:srgbClr val="315B72"/>
                </a:solidFill>
              </a:rPr>
              <a:t>IDENTIDADE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307AD-A480-4575-9949-872842EB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OIDC / LDAP a conectar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DCCB7-3557-4553-9CFA-7BDB35F7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B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2A2E5-DC26-483C-BE2B-B6FAF4BE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0D3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2B424-7FF3-4212-80E1-9461010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49A3A"/>
                </a:solidFill>
              </a:defRPr>
            </a:pPr>
            <a:r>
              <a:rPr sz="1200" b="1">
                <a:solidFill>
                  <a:srgbClr val="C49A3A"/>
                </a:solidFill>
              </a:rPr>
              <a:t>SEI!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455A8-2363-4367-81AA-DC4765C3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vínculo local • sem SOAP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8291C-FC52-4683-871E-CB240918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006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9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7C674-D26B-4D4C-9CAE-5B9DC15A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0D3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AD2C51-09C8-45C1-B766-CCE6B0CC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766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6A52"/>
                </a:solidFill>
              </a:defRPr>
            </a:pPr>
            <a:r>
              <a:rPr sz="1200" b="1">
                <a:solidFill>
                  <a:srgbClr val="1F6A52"/>
                </a:solidFill>
              </a:rPr>
              <a:t>PCA / PNCP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8F687-402C-4665-854F-53846D97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payload local • sem POST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63796-D064-437D-986B-34D0C8C9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6A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243D4-AFD3-4C3D-8C72-574B9398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05375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0D3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87E15-C69F-469F-9456-088254C1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387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1C32"/>
                </a:solidFill>
              </a:defRPr>
            </a:pPr>
            <a:r>
              <a:rPr sz="1200" b="1">
                <a:solidFill>
                  <a:srgbClr val="681C32"/>
                </a:solidFill>
              </a:rPr>
              <a:t>TRANSPARÊNCIA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2E25C-A69B-4A41-812D-5EAAEDEA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625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snapshot aprovado • hash interno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3D8DF-E575-4352-9534-228F7356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006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81C3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3318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43CA2-60B3-488A-9A90-9C733CA6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c83867e874454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A0314-A7B1-47E6-8D22-BF35564A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CLAREZA DE ESCOPO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66426-1A40-4337-8BA7-348ACF50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0E926-EC5A-4013-BD07-A9DF70DC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PRONTO × DEPENDENTE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59F47-5031-4981-B48A-2E0CA2CE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Pronto para homologação; produção exige decisões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6A35C-0788-4291-80CD-4EA01F55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O ciclo de negócio funciona; produção institucional exige identidade, regras, contratos de integração e aceite formal.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4327E-90FE-488E-B376-C70427D9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048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C7DD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BE5A8-553C-4876-83D0-DEB121EB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6A52"/>
                </a:solidFill>
              </a:defRPr>
            </a:pPr>
            <a:r>
              <a:rPr sz="1200" b="1">
                <a:solidFill>
                  <a:srgbClr val="1F6A52"/>
                </a:solidFill>
              </a:rPr>
              <a:t>PRONTO NA RC2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813AA-BE86-4263-8D05-AC104ED6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11B1D"/>
                </a:solidFill>
              </a:defRPr>
            </a:pPr>
            <a:r>
              <a:rPr sz="1200" b="1">
                <a:solidFill>
                  <a:srgbClr val="211B1D"/>
                </a:solidFill>
              </a:rPr>
              <a:t>✓  ciclo completo e DFD ampliado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F8C5B-D313-4AF2-949E-833504BD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✓  edição, retirada e anexos governados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A64F1-5B2D-4DC2-8D7F-3D9C3B23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✓  risco, PNCP, relatórios e auditoria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06E3E-5B68-4F38-BF1A-6DA519A9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✓  qualidade e recuperação validadas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26425-0E45-422A-8393-470D3E57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19450"/>
            <a:ext cx="55435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E9DB"/>
          </a:solidFill>
          <a:ln xmlns:a="http://schemas.openxmlformats.org/drawingml/2006/main" w="0">
            <a:solidFill>
              <a:srgbClr val="E4CF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8E758-C0B1-4FC4-A16F-A5514681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1C32"/>
                </a:solidFill>
              </a:defRPr>
            </a:pPr>
            <a:r>
              <a:rPr sz="1200" b="1">
                <a:solidFill>
                  <a:srgbClr val="681C32"/>
                </a:solidFill>
              </a:rPr>
              <a:t>DEPENDÊNCIAS DO MPRJ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0BF97-0CB0-4199-9149-25363776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11B1D"/>
                </a:solidFill>
              </a:defRPr>
            </a:pPr>
            <a:r>
              <a:rPr sz="1200" b="1">
                <a:solidFill>
                  <a:srgbClr val="211B1D"/>
                </a:solidFill>
              </a:rPr>
              <a:t>→  identidade, perfis, unidades e alçadas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E3C31-29F2-4B41-AF4E-8D665FEE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→  WSDL, operações e credencial do SEI!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5F9D9-8869-48EE-AF31-E9EE27C7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672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→  homologação e credencial do PNCP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CE7A0-65BA-4269-BEAA-7579DAB2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482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→  domínio, storage, monitoração e aceite</a:t>
            </a:r>
          </a:p>
        </p:txBody>
      </p:sp>
    </p:spTree>
    <p:extLst>
      <p:ext uri="{BB962C8B-B14F-4D97-AF65-F5344CB8AC3E}">
        <p14:creationId xmlns:p14="http://schemas.microsoft.com/office/powerpoint/2010/main" val="20631603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42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B666B-60B3-41D0-B94E-9BE1E1F5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d93dcc9b34a80"/>
          <a:stretch xmlns:a="http://schemas.openxmlformats.org/drawingml/2006/main"/>
        </p:blipFill>
        <p:spPr>
          <a:xfrm xmlns:a="http://schemas.openxmlformats.org/drawingml/2006/main">
            <a:off x="685800" y="517916"/>
            <a:ext cx="1952625" cy="59294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C12B5-0CB2-4E5A-9A05-E36C6B3E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49A3A"/>
                </a:solidFill>
              </a:defRPr>
            </a:pPr>
            <a:r>
              <a:rPr sz="1200" b="1">
                <a:solidFill>
                  <a:srgbClr val="C49A3A"/>
                </a:solidFill>
              </a:rPr>
              <a:t>PAC DIGITAL MPRJ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A8F39-C62D-430D-ABC2-294D57B5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334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Da planilha à gestão.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Da intenção à execução.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FBA2B-27DC-42BC-8809-28D8CD14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5D7DC"/>
                </a:solidFill>
              </a:defRPr>
            </a:pPr>
            <a:r>
              <a:rPr sz="1500" b="0">
                <a:solidFill>
                  <a:srgbClr val="E5D7DC"/>
                </a:solidFill>
              </a:rPr>
              <a:t>Uma plataforma institucional, portável e pronta para homologação.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22CF9-D63D-451A-B9C1-B8D8712E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E02B7-FE40-477A-B56F-33041B62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Decisão proposta: autorizar a homologação institucional da v1.0 RC2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911B1-B324-4EC1-8FBC-5661ED1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AB3BB"/>
                </a:solidFill>
              </a:defRPr>
            </a:pPr>
            <a:r>
              <a:rPr sz="975" b="0">
                <a:solidFill>
                  <a:srgbClr val="CAB3BB"/>
                </a:solidFill>
              </a:rPr>
              <a:t>pacdigital-mprj.163-176-228-150.sslip.io</a:t>
            </a:r>
          </a:p>
        </p:txBody>
      </p:sp>
    </p:spTree>
    <p:extLst>
      <p:ext uri="{BB962C8B-B14F-4D97-AF65-F5344CB8AC3E}">
        <p14:creationId xmlns:p14="http://schemas.microsoft.com/office/powerpoint/2010/main" val="464013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2026-10-06T13:12:52.8380000Z</dcterms:created>
  <dcterms:modified xsi:type="dcterms:W3CDTF">2026-10-06T13:12:52.8380000Z</dcterms:modified>
</coreProperties>
</file>