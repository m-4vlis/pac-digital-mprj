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f43f1231e46a7" /><Relationship Type="http://schemas.openxmlformats.org/officeDocument/2006/relationships/extended-properties" Target="/docProps/app.xml" Id="R55a445b5d16c442e" /><Relationship Type="http://schemas.openxmlformats.org/officeDocument/2006/relationships/officeDocument" Target="/ppt/presentation.xml" Id="Rf87dbf419276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e24541dd84727"/>
  </p:sldMasterIdLst>
  <p:notesMasterIdLst>
    <p:notesMasterId xmlns:r="http://schemas.openxmlformats.org/officeDocument/2006/relationships" r:id="Raefb49c49a1e4ec7"/>
  </p:notesMasterIdLst>
  <p:sldIdLst>
    <p:sldId xmlns:r="http://schemas.openxmlformats.org/officeDocument/2006/relationships" id="256" r:id="Rb3c0a2576bcf4059"/>
    <p:sldId xmlns:r="http://schemas.openxmlformats.org/officeDocument/2006/relationships" id="257" r:id="Rb82a0b8c8d864894"/>
    <p:sldId xmlns:r="http://schemas.openxmlformats.org/officeDocument/2006/relationships" id="258" r:id="R0c3fde64c2a34554"/>
    <p:sldId xmlns:r="http://schemas.openxmlformats.org/officeDocument/2006/relationships" id="259" r:id="Re2d0c9f6791c4926"/>
    <p:sldId xmlns:r="http://schemas.openxmlformats.org/officeDocument/2006/relationships" id="260" r:id="R1b25427397674fff"/>
    <p:sldId xmlns:r="http://schemas.openxmlformats.org/officeDocument/2006/relationships" id="261" r:id="R96fc4253678e480a"/>
    <p:sldId xmlns:r="http://schemas.openxmlformats.org/officeDocument/2006/relationships" id="262" r:id="R289f5c5ec6d64a8c"/>
    <p:sldId xmlns:r="http://schemas.openxmlformats.org/officeDocument/2006/relationships" id="263" r:id="R716894c3e68f4274"/>
    <p:sldId xmlns:r="http://schemas.openxmlformats.org/officeDocument/2006/relationships" id="264" r:id="Re7e110e8b30247ab"/>
    <p:sldId xmlns:r="http://schemas.openxmlformats.org/officeDocument/2006/relationships" id="265" r:id="R0dbe6dd260da434c"/>
    <p:sldId xmlns:r="http://schemas.openxmlformats.org/officeDocument/2006/relationships" id="266" r:id="R98c1116ec39e4594"/>
    <p:sldId xmlns:r="http://schemas.openxmlformats.org/officeDocument/2006/relationships" id="267" r:id="R5aa0e866e0be45ec"/>
    <p:sldId xmlns:r="http://schemas.openxmlformats.org/officeDocument/2006/relationships" id="268" r:id="R4e624c78708641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466b4800b4e2c" /><Relationship Type="http://schemas.openxmlformats.org/officeDocument/2006/relationships/slideMaster" Target="/ppt/slideMasters/slideMaster1.xml" Id="Ra85e24541dd84727" /><Relationship Type="http://schemas.openxmlformats.org/officeDocument/2006/relationships/notesMaster" Target="/ppt/notesMasters/notesMaster1.xml" Id="Raefb49c49a1e4ec7" /><Relationship Type="http://schemas.openxmlformats.org/officeDocument/2006/relationships/presProps" Target="/ppt/presProps.xml" Id="Rf2faa551dfa1482a" /><Relationship Type="http://schemas.openxmlformats.org/officeDocument/2006/relationships/tableStyles" Target="/ppt/tableStyles.xml" Id="Rf777152a67cc49e1" /><Relationship Type="http://schemas.openxmlformats.org/officeDocument/2006/relationships/slide" Target="/ppt/slides/slide1.xml" Id="Rb3c0a2576bcf4059" /><Relationship Type="http://schemas.openxmlformats.org/officeDocument/2006/relationships/slide" Target="/ppt/slides/slide2.xml" Id="Rb82a0b8c8d864894" /><Relationship Type="http://schemas.openxmlformats.org/officeDocument/2006/relationships/slide" Target="/ppt/slides/slide3.xml" Id="R0c3fde64c2a34554" /><Relationship Type="http://schemas.openxmlformats.org/officeDocument/2006/relationships/slide" Target="/ppt/slides/slide4.xml" Id="Re2d0c9f6791c4926" /><Relationship Type="http://schemas.openxmlformats.org/officeDocument/2006/relationships/slide" Target="/ppt/slides/slide5.xml" Id="R1b25427397674fff" /><Relationship Type="http://schemas.openxmlformats.org/officeDocument/2006/relationships/slide" Target="/ppt/slides/slide6.xml" Id="R96fc4253678e480a" /><Relationship Type="http://schemas.openxmlformats.org/officeDocument/2006/relationships/slide" Target="/ppt/slides/slide7.xml" Id="R289f5c5ec6d64a8c" /><Relationship Type="http://schemas.openxmlformats.org/officeDocument/2006/relationships/slide" Target="/ppt/slides/slide8.xml" Id="R716894c3e68f4274" /><Relationship Type="http://schemas.openxmlformats.org/officeDocument/2006/relationships/slide" Target="/ppt/slides/slide9.xml" Id="Re7e110e8b30247ab" /><Relationship Type="http://schemas.openxmlformats.org/officeDocument/2006/relationships/slide" Target="/ppt/slides/slide10.xml" Id="R0dbe6dd260da434c" /><Relationship Type="http://schemas.openxmlformats.org/officeDocument/2006/relationships/slide" Target="/ppt/slides/slide11.xml" Id="R98c1116ec39e4594" /><Relationship Type="http://schemas.openxmlformats.org/officeDocument/2006/relationships/slide" Target="/ppt/slides/slide12.xml" Id="R5aa0e866e0be45ec" /><Relationship Type="http://schemas.openxmlformats.org/officeDocument/2006/relationships/slide" Target="/ppt/slides/slide13.xml" Id="R4e624c787086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6e0c2d0d4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30f5e8e974460" /><Relationship Type="http://schemas.openxmlformats.org/officeDocument/2006/relationships/notesMaster" Target="/ppt/notesMasters/notesMaster1.xml" Id="R5cb17fd252754f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6b9dcc4104f0f" /><Relationship Type="http://schemas.openxmlformats.org/officeDocument/2006/relationships/notesMaster" Target="/ppt/notesMasters/notesMaster1.xml" Id="Re58928b00642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169ee40c9143f3" /><Relationship Type="http://schemas.openxmlformats.org/officeDocument/2006/relationships/notesMaster" Target="/ppt/notesMasters/notesMaster1.xml" Id="R8c65711bc9ce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815f9e63648af" /><Relationship Type="http://schemas.openxmlformats.org/officeDocument/2006/relationships/notesMaster" Target="/ppt/notesMasters/notesMaster1.xml" Id="Raa4e5d65bd624b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5456a2aef4cf0" /><Relationship Type="http://schemas.openxmlformats.org/officeDocument/2006/relationships/notesMaster" Target="/ppt/notesMasters/notesMaster1.xml" Id="R5af3e16da0bb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4c48106e3c47ca" /><Relationship Type="http://schemas.openxmlformats.org/officeDocument/2006/relationships/notesMaster" Target="/ppt/notesMasters/notesMaster1.xml" Id="Rffdfd0334d6d4d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b23ba4f6054f01" /><Relationship Type="http://schemas.openxmlformats.org/officeDocument/2006/relationships/notesMaster" Target="/ppt/notesMasters/notesMaster1.xml" Id="R8e7e00b80efa49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27620ebe4d4798" /><Relationship Type="http://schemas.openxmlformats.org/officeDocument/2006/relationships/notesMaster" Target="/ppt/notesMasters/notesMaster1.xml" Id="R671f285ddc8e45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19338806d4208" /><Relationship Type="http://schemas.openxmlformats.org/officeDocument/2006/relationships/notesMaster" Target="/ppt/notesMasters/notesMaster1.xml" Id="Re98d504f3c87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dfc2fd10f41f5" /><Relationship Type="http://schemas.openxmlformats.org/officeDocument/2006/relationships/notesMaster" Target="/ppt/notesMasters/notesMaster1.xml" Id="R43b98b21bf2041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9ce0ca8ff846b6" /><Relationship Type="http://schemas.openxmlformats.org/officeDocument/2006/relationships/notesMaster" Target="/ppt/notesMasters/notesMaster1.xml" Id="R3f09e4002f134c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e85e8582af4ff6" /><Relationship Type="http://schemas.openxmlformats.org/officeDocument/2006/relationships/notesMaster" Target="/ppt/notesMasters/notesMaster1.xml" Id="R58e77ab3189d4a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119b716b964ad2" /><Relationship Type="http://schemas.openxmlformats.org/officeDocument/2006/relationships/notesMaster" Target="/ppt/notesMasters/notesMaster1.xml" Id="Red27855051664b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589c38805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fc00a8c7b04b98" /><Relationship Type="http://schemas.openxmlformats.org/officeDocument/2006/relationships/slideLayout" Target="/ppt/slideLayouts/slideLayout1.xml" Id="R93c94088871246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c94088871246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d70d7b2ad4221" /><Relationship Type="http://schemas.openxmlformats.org/officeDocument/2006/relationships/image" Target="/ppt/media/image.png" Id="R2561db2fef8a4b97" /><Relationship Type="http://schemas.openxmlformats.org/officeDocument/2006/relationships/notesSlide" Target="/ppt/notesSlides/notesSlide1.xml" Id="R8ecc7336790a45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73d098704486" /><Relationship Type="http://schemas.openxmlformats.org/officeDocument/2006/relationships/image" Target="/ppt/media/image2.png" Id="Re2502a5575ea41d0" /><Relationship Type="http://schemas.openxmlformats.org/officeDocument/2006/relationships/notesSlide" Target="/ppt/notesSlides/notesSlide2.xml" Id="Reecc4bcbaa9c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0cbaf81fa4294" /><Relationship Type="http://schemas.openxmlformats.org/officeDocument/2006/relationships/image" Target="/ppt/media/image3.png" Id="R4a207c55ab7f4607" /><Relationship Type="http://schemas.openxmlformats.org/officeDocument/2006/relationships/notesSlide" Target="/ppt/notesSlides/notesSlide3.xml" Id="R0f2b896f2abf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52a19f2494f66" /><Relationship Type="http://schemas.openxmlformats.org/officeDocument/2006/relationships/image" Target="/ppt/media/image4.png" Id="R8fbfefed9ec64d13" /><Relationship Type="http://schemas.openxmlformats.org/officeDocument/2006/relationships/notesSlide" Target="/ppt/notesSlides/notesSlide4.xml" Id="Rfc6c23056ee0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085dcb51f4fdb" /><Relationship Type="http://schemas.openxmlformats.org/officeDocument/2006/relationships/image" Target="/ppt/media/image5.png" Id="Ra0ecab94815348e1" /><Relationship Type="http://schemas.openxmlformats.org/officeDocument/2006/relationships/notesSlide" Target="/ppt/notesSlides/notesSlide5.xml" Id="R803148282aed48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5817b7bf24a78" /><Relationship Type="http://schemas.openxmlformats.org/officeDocument/2006/relationships/image" Target="/ppt/media/image6.png" Id="R1d1903f7070f4cdf" /><Relationship Type="http://schemas.openxmlformats.org/officeDocument/2006/relationships/notesSlide" Target="/ppt/notesSlides/notesSlide6.xml" Id="R4e6804cdf825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6da30a25b4e2f" /><Relationship Type="http://schemas.openxmlformats.org/officeDocument/2006/relationships/image" Target="/ppt/media/image7.png" Id="Re8721e3b08ef4d7f" /><Relationship Type="http://schemas.openxmlformats.org/officeDocument/2006/relationships/notesSlide" Target="/ppt/notesSlides/notesSlide7.xml" Id="R71c6d5b9154540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2ab65bf0742e1" /><Relationship Type="http://schemas.openxmlformats.org/officeDocument/2006/relationships/image" Target="/ppt/media/image8.png" Id="Ra5501de822ef41e1" /><Relationship Type="http://schemas.openxmlformats.org/officeDocument/2006/relationships/notesSlide" Target="/ppt/notesSlides/notesSlide8.xml" Id="R3399be115fa4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e1b3a609d4dcf" /><Relationship Type="http://schemas.openxmlformats.org/officeDocument/2006/relationships/image" Target="/ppt/media/image9.png" Id="R227780120b7248d3" /><Relationship Type="http://schemas.openxmlformats.org/officeDocument/2006/relationships/notesSlide" Target="/ppt/notesSlides/notesSlide9.xml" Id="R264c9db161364d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1eac1a64e47e7" /><Relationship Type="http://schemas.openxmlformats.org/officeDocument/2006/relationships/image" Target="/ppt/media/image10.png" Id="Rdd0215fa96f74349" /><Relationship Type="http://schemas.openxmlformats.org/officeDocument/2006/relationships/notesSlide" Target="/ppt/notesSlides/notesSlide10.xml" Id="R5522c3686fac4e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efe77014e4a27" /><Relationship Type="http://schemas.openxmlformats.org/officeDocument/2006/relationships/image" Target="/ppt/media/image11.png" Id="R599e96e9d4a642d3" /><Relationship Type="http://schemas.openxmlformats.org/officeDocument/2006/relationships/notesSlide" Target="/ppt/notesSlides/notesSlide11.xml" Id="R8310d1ec531145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548a1302f4455" /><Relationship Type="http://schemas.openxmlformats.org/officeDocument/2006/relationships/image" Target="/ppt/media/image12.png" Id="R395366618d144610" /><Relationship Type="http://schemas.openxmlformats.org/officeDocument/2006/relationships/notesSlide" Target="/ppt/notesSlides/notesSlide12.xml" Id="R6bb7f226cbca48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1c6a677724a42" /><Relationship Type="http://schemas.openxmlformats.org/officeDocument/2006/relationships/image" Target="/ppt/media/image13.png" Id="Rf4d52e866d31425b" /><Relationship Type="http://schemas.openxmlformats.org/officeDocument/2006/relationships/notesSlide" Target="/ppt/notesSlides/notesSlide13.xml" Id="R4545972663cf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4B157-96B1-4934-89CB-1FDCB62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1db2fef8a4b97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54461-E403-4410-9121-56B94C0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9A3A"/>
                </a:solidFill>
              </a:defRPr>
            </a:pPr>
            <a:r>
              <a:rPr sz="135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E75CD-8471-4B6D-A0A0-C332E971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Planejamento que vira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governança e execução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EC327-2E13-48E2-BCF2-841F010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7D5DB"/>
                </a:solidFill>
              </a:defRPr>
            </a:pPr>
            <a:r>
              <a:rPr sz="1575" b="0">
                <a:solidFill>
                  <a:srgbClr val="E7D5DB"/>
                </a:solidFill>
              </a:rPr>
              <a:t>Candidata v1.0 RC1 • apresentação executiva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59B99-D757-4C8A-B6FB-8E76EF4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3D13-8A1E-4467-B453-7B6A4EBD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D098C-1A28-4805-B893-6AE6274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8D01A-1A08-4CCE-B5D4-E2E2A64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PORTÁTIL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6B1D-F393-4595-83B6-B9592C2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DFA4-B70F-4B43-BA27-0667BFB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PNCP-READY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419F-A98B-4D3E-B3EC-2F9EA23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B6BE"/>
                </a:solidFill>
              </a:defRPr>
            </a:pPr>
            <a:r>
              <a:rPr sz="900" b="0">
                <a:solidFill>
                  <a:srgbClr val="CDB6BE"/>
                </a:solidFill>
              </a:rPr>
              <a:t>MPRJ • ambiente demonstrativo controlado</a:t>
            </a:r>
          </a:p>
        </p:txBody>
      </p:sp>
    </p:spTree>
    <p:extLst>
      <p:ext uri="{BB962C8B-B14F-4D97-AF65-F5344CB8AC3E}">
        <p14:creationId xmlns:p14="http://schemas.microsoft.com/office/powerpoint/2010/main" val="1574282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0B42-EA05-4AD4-AD37-7509A99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02a5575ea41d0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24528-7DB9-4C1E-AA9B-01EDF59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C028A-F4C6-45BE-889E-C922B23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DCF6-BF17-4694-B792-D4F836E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PONTO DE 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12D3A-DF40-4064-9EF4-F965E0F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O PAC não pode terminar na planilha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2FFF-38E4-444A-9FA8-FAA8033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Planejamento disperso reduz previsibilidade, rastreabilidade e capacidade de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988E2-BAFE-4D63-B01B-1E48625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2AE8-7EC0-4476-9C1A-A1D91D1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015CB-39F8-4B84-AE17-EF06D34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VISÃO FRAGMENTADA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4F7D-1E1D-4CEB-BCAD-0546AC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Muitas fontes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52FC-CB4E-4604-9C34-43F4521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Valores, prazos, responsáveis e justificativas ficam separados.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400-2649-4C3E-B3E8-2676B97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ECF67-1EF4-4FB0-9DE4-1FAAF17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DBDA1-2252-4EA3-9C39-5A9FEF35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GESTÃO REATIVA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33AD9-15AE-4008-BE8B-F2A9592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Risco tardio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8C80-8C97-49C1-B609-72F6859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Atrasos aparecem quando o espaço para agir já diminuiu.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8BAA-450A-4B1F-A8DC-30D291D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FCB03-DDE0-47D9-B261-34CEF3E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8A1B9-5194-4C45-A750-F9A3AFA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BAIXA MEMÓRIA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B28D2-E512-48FA-A0B3-E89CCE9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Pouca trilha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7F582-A333-4E0C-97F3-645873D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Alterações e decisões perdem contexto ao longo do exercício.</a:t>
            </a:r>
          </a:p>
        </p:txBody>
      </p:sp>
    </p:spTree>
    <p:extLst>
      <p:ext uri="{BB962C8B-B14F-4D97-AF65-F5344CB8AC3E}">
        <p14:creationId xmlns:p14="http://schemas.microsoft.com/office/powerpoint/2010/main" val="901132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8675D-A40F-4F35-9F4A-0834855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07c55ab7f4607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45014-ADA6-42BC-AB9F-44CAE34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2E78-9A25-4F2F-9929-509C91B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F70F-9083-403D-A8C6-3F0525C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MUDANÇA DE LÓGICA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3CEA-BD66-4F8E-9996-8E92663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De documento estático para carteira governada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BCF2-FBB6-4319-A6E2-471D61B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Cada demanda passa a ter dono, valor, prazo, risco, aprovações, execução e história.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8C1B9-6DAD-4E32-B8FE-2AE7F67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DFD7-D528-424F-AEAB-F278E27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46B57-D425-48D0-AEA6-5EBE056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PLANEJAR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3330E-AA1F-4A5D-B394-742638E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1F5E0-AD14-4203-BFB1-A6F579E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EC29-70A8-410A-85E2-D20F0F5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856F-EAFE-4ED9-8C19-2134AAE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REVISAR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43A34-8A05-4D56-AABC-53162BA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C4F52-DBFD-442C-ADAC-544F33A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EAEA-0EF6-4CEF-B004-D096261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FF310-39FA-417B-9C8A-3094965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13D2C-7348-42EA-A756-A7D13D8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655BD-824B-4C6F-8C5B-77901F0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64FA0-AE7F-42D8-B196-3C3DD21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250D4-C212-47F0-B604-6F360D9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EXECUTAR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3E96-BC5A-4E8B-8771-60D1F8BF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98FC-C35D-4C0F-A2E4-2661FA3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525D0-B750-4434-8E6F-569AB52D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3A"/>
                </a:solidFill>
              </a:defRPr>
            </a:pPr>
            <a:r>
              <a:rPr sz="900" b="1">
                <a:solidFill>
                  <a:srgbClr val="C49A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D9322-8123-46B1-A3D8-0856D0A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AD87A-AD62-4323-9B5A-AB24C5F7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101F"/>
                </a:solidFill>
              </a:defRPr>
            </a:pPr>
            <a:r>
              <a:rPr sz="1575" b="1">
                <a:solidFill>
                  <a:srgbClr val="42101F"/>
                </a:solidFill>
              </a:rPr>
              <a:t>Um único ciclo • regras explícitas • decisões auditáveis</a:t>
            </a:r>
          </a:p>
        </p:txBody>
      </p:sp>
    </p:spTree>
    <p:extLst>
      <p:ext uri="{BB962C8B-B14F-4D97-AF65-F5344CB8AC3E}">
        <p14:creationId xmlns:p14="http://schemas.microsoft.com/office/powerpoint/2010/main" val="1499018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B84A6-D54C-4916-A6B5-C353A17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fefed9ec64d13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4E76-6BE1-43A3-B7FA-3727398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PRODUTO DEMONSTRÁVEL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D6AA-6FC9-4DD9-92F0-FC33F94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F716-7737-4C7C-8A87-C7EFD0A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V1.0 RC1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8979-DE04-4015-AE50-836853A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O ciclo completo já está demonstrável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7683-2276-4AE9-91D1-DEEE991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A solução está pronta para apresentação executiva e início da homologação institucional.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4460-6F78-42DA-B33E-293335C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9DA30-7467-44D0-8971-7370364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938B0-5B9F-41C5-9EEE-06E6A0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QUALIDADE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9EDF-3FD0-41D1-B7C4-97B80BB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12 testes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F4FFA-F517-4069-AF70-2E35D4C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Integração, ponta a ponta, segurança e desempenho.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193A-63C7-4C45-A614-C54B8FA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733A3-89F3-45A6-B740-1549DA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7CD4F-2348-4F37-8D77-2B67873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INTELIGÊNCIA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C71FD-D0A3-46E8-B812-5BE2426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964 contratos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6457-35CE-4A6D-BA30-2253287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Dados públicos reais do PNCP, filtrados para o MPRJ.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45AE-9904-4027-95C7-36047E4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66E28-E0F7-4A24-A89A-665ECBC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087BD-818C-4AE6-AD15-4664D9F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OPERAÇÃO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E7356-10B2-4635-A168-3F65A5B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HTTPS 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A8EC-FFF2-4D13-B294-4C07CC7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Implantação controlada em VPS com PostgreSQL e Docker.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B4264-F088-4212-8AC8-5CF96DE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3FD16-62D6-4E70-AF71-2600D34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7E29D-53E5-4607-8EB2-0F21E7A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PORTABILIDADE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6347-47D2-4475-886E-E7735DB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Sem SaaS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112C-D556-44FE-81B3-E7DC732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Código aberto e executável em infraestrutura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884225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FB5A0-0722-4CD9-A83C-29410D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cab94815348e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CB99-FE1B-49CA-8EAB-07CED0A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VISÃO EXECUTIVA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143B-8FA4-4019-ABBA-3ED0297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AD6F-1788-4D5D-A56C-259A11B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DECISÃO EM UMA PÁGINA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AD85C-84B1-499B-BFBD-767EE45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Do orçamento ao risco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17AF2-DBB8-455D-A3BD-6461CC77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Planejado × executado, movimentos críticos e prioridades aparecem no mesmo painel.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A61F0-959C-418F-9F65-002C747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491A-6B8A-4982-9A71-BD9254D0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FF5AB-9352-4382-AEEA-A0C8751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PLANEJAMENTO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8974D-F733-482B-A1FF-E4DA0B4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R$ previsto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B85F1-0605-424E-9882-6B77DE8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 originais, revisados e ajustados.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1D76B-736A-4DE3-AC8F-1C38ACC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A179-FC30-425B-B6E8-6BA7D36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9D6A4-80CB-493C-A064-491DDBC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EXECUÇÃO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B4292-D03E-4569-AE82-818BE8E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Realizado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EFD60-2F23-4ECC-B228-0B0AE21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Processo, marcos, resultado e valor contratado.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724C3-4AF0-4C87-B0D5-93B2F09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8E209-012D-49DD-BE7C-2FD329A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263F8-45BE-4B7C-8CEC-B6D8C29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MUDANÇAS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A8D1E-44A5-4CC9-A3C3-26E0CCC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Rastreáveis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44CBC-82CF-4BA9-A7AB-4EA7AEB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Revisões, inclusões, cancelamentos e reprogramações.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557A9-FB41-4BCD-B0DE-8A5753D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25DB5-6923-46E7-8A2E-8857791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10619-4475-4CD0-9F3C-AD67D21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RISCOS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37C43-DBA2-4F5F-A1C8-5BC9791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Explicáveis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EF441-64E2-43CE-AD09-EE672F6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Motivo, prazo e ação — não uma caixa-preta.</a:t>
            </a:r>
          </a:p>
        </p:txBody>
      </p:sp>
    </p:spTree>
    <p:extLst>
      <p:ext uri="{BB962C8B-B14F-4D97-AF65-F5344CB8AC3E}">
        <p14:creationId xmlns:p14="http://schemas.microsoft.com/office/powerpoint/2010/main" val="1929032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AFC86-9AD3-4350-AA6F-D21BC7A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903f7070f4cdf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02CD-D673-485F-A29D-E916D27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ANTECIPAÇÃO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ED5D-905F-44B2-BB28-24A41BC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2BAD-C057-4E32-9839-9ADDF05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RISCO E RETROPLANEJAMENTO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9DED-87DB-4F81-BD08-EF2B580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Agir antes do atraso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20B3-5D63-4C80-877B-4FF2F66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A data desejada gera marcos anteriores; parâmetros são configuráveis e explicitamente não normativos.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CAC4-C6E6-48E5-8EE8-EB10032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4B7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35D09-22C7-40DD-9803-64DFAAD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46BC9-B41E-42B8-AD4B-8A7B90E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A0E3-303F-4C48-92B2-8674A46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DEMANDA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FD361-F8D7-41E0-B0FC-4C1C9CE5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C9E9D-69F9-4EC7-96CF-BA258BB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BB5B7-D88C-4F56-B4C2-C659DAA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91B71-753E-4BAA-B822-B251C63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ESTUDO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C3C81-CA78-4C8A-A720-A97B85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preparação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452F-748A-40CB-A09B-176DEF5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A8886-D024-42FA-BC96-671C560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7CB0-327C-4B89-AD8C-DB2E038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EDITAL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80E34-D7CA-48BF-BB5E-62A8151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contratação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F2A44-F4F2-42A3-8881-725B863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D5E4D-8A30-4356-93DA-3981AB2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85763-F684-4B9C-B4B4-79CBC1F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SELEÇÃO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3E044-275E-4A61-BD8C-E60A05D2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disputa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28615-93AD-4B24-9293-ED8FBF4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C372E-A308-44A7-8377-035FED2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4F684-B761-4E6E-A0EF-AF81F23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ENTREGA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CB804-3FF0-4F74-9FB0-BBEB5B7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AFA9C-B528-4B29-B319-A59DF2F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98CE7-35C4-4AC9-9DCA-1537B58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Parâmetros de gestão ≠ norma institucional</a:t>
            </a:r>
          </a:p>
        </p:txBody>
      </p:sp>
    </p:spTree>
    <p:extLst>
      <p:ext uri="{BB962C8B-B14F-4D97-AF65-F5344CB8AC3E}">
        <p14:creationId xmlns:p14="http://schemas.microsoft.com/office/powerpoint/2010/main" val="1136768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918C2-5A67-48F4-B282-8EE62BB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21e3b08ef4d7f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7E422-4470-4830-A4DD-610230E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GOVERNANÇA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35D3B-D1DB-4E2E-BF57-E260BE4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F044-2125-4A55-9D32-DCDE8EF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RASTREABILIDADE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D261-A04D-42FA-9F25-594B8F3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Toda mudança deixa evidência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2A9C-65C0-4CB6-A56C-7625E93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Versões, justificativas, aprovações e eventos preservam o contexto da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5784-8542-4E33-B00C-72612B0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472D9-3000-43CE-9CA2-2E2A32D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Revisão aprovada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00CA-CBDF-4761-9943-B01A151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gera nova versão da demanda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3C5CD-F13B-441A-9568-21B3F69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Histórico preservado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4B0B1-4102-4AD2-AD76-D6353F66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2FEA-F831-4629-B9C3-CDD7716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Adequação pós-LOA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466FC-361F-4CC6-A452-562F2680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mantém valor original, revisado e ajustado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6426-2E3C-43B6-8143-AF6EC138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Justificativa obrigatória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EDCA6-C3F0-475B-B3AC-9D694EE8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F7855-FEE2-4A0C-9CF6-9F2BF20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Aprovação por etapa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A317-54D3-4099-89FD-DDBA96C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95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perfil, alçada e decisão registrados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D426-349C-4FCF-8E32-7C43269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Fluxo configurável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1790-F40C-4641-88F8-4FC0434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C6F67-9694-4063-923F-B601B6AF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Planejamento × execução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F073C-299D-493E-836D-37382A7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339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estados independentes e coerentes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8E8F3-0AB4-4DA5-B1DE-ECC54CB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6A52"/>
                </a:solidFill>
              </a:defRPr>
            </a:pPr>
            <a:r>
              <a:rPr sz="1050" b="1">
                <a:solidFill>
                  <a:srgbClr val="1F6A52"/>
                </a:solidFill>
              </a:rPr>
              <a:t>Auditoria completa</a:t>
            </a:r>
          </a:p>
        </p:txBody>
      </p:sp>
    </p:spTree>
    <p:extLst>
      <p:ext uri="{BB962C8B-B14F-4D97-AF65-F5344CB8AC3E}">
        <p14:creationId xmlns:p14="http://schemas.microsoft.com/office/powerpoint/2010/main" val="340596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B5E1C-0D28-4AF7-90C5-D1F13AB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01de822ef41e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ACC1-ADC6-4E48-AE27-EEE6089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D9DE"/>
                </a:solidFill>
              </a:defRPr>
            </a:pPr>
            <a:r>
              <a:rPr sz="900" b="1">
                <a:solidFill>
                  <a:srgbClr val="E9D9DE"/>
                </a:solidFill>
              </a:rPr>
              <a:t>INTELIGÊNCIA PNCP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6C8D3-A7B0-4351-8A4F-6ADD774A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5BDC5"/>
                </a:solidFill>
              </a:defRPr>
            </a:pPr>
            <a:r>
              <a:rPr sz="825" b="1">
                <a:solidFill>
                  <a:srgbClr val="D5BDC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D39D-8C9F-4527-BA6C-2DB1269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DADOS PÚBLICOS • LEITURA CONTROLADA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7646D-A70F-4FE8-B5CB-63EDB59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Histórico real, sem misturar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com a carteira fictícia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7837-5455-4A34-B8B8-477395E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DCE0"/>
                </a:solidFill>
              </a:defRPr>
            </a:pPr>
            <a:r>
              <a:rPr sz="1500" b="0">
                <a:solidFill>
                  <a:srgbClr val="E8DCE0"/>
                </a:solidFill>
              </a:rPr>
              <a:t>Contratos públicos do MPRJ ajudam a calibrar referências temporais e explicar riscos.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2B52A-4715-4F9E-81AB-247534DE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4F2C2-2C7F-4CA2-87DD-7E64D4C0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699FC-05CF-4736-B936-0C86A72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BASE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486C-8DFC-4841-897A-131BDB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964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61DCD-5246-45D6-90F8-6FCFE7C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contratos importados • 2022–2026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E1617-D158-4D16-A4EF-AB1B63F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D88FE-36B9-4990-89B1-E913F4BE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A7AE7-6919-4237-8A01-5300AAD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VOLUME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91889-B5E6-4066-BE55-EAD8CC5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R$ 1,432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80814-6B22-49B7-8AE6-0CC73BD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agregado e rastreável à origem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38371-7667-4D61-827A-87B30D5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E7AAC-7C68-4891-816D-D6EC6D2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9751A-329D-4A77-AD84-CCB9B61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ESTATÍSTICA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1675C-A855-4326-AC22-BA2751E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P50 • P75 • P90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24B33-0064-401B-B1AA-9E34DCC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por categoria quando a amostra permite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D7CC0-D269-4AF4-87CB-F8C31D2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3CF79-691A-4000-B00C-E15FF31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Sem fornecedores armazenados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D3530-3C21-4862-AAF5-DD22121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5E6C5-085D-40AC-BB1F-30C92EB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Sincronização incremental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CBAA6-9A5B-444B-A865-5F5571B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B6150-9B1A-4A4A-8380-15C91BC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Proveniência + hash</a:t>
            </a:r>
          </a:p>
        </p:txBody>
      </p:sp>
    </p:spTree>
    <p:extLst>
      <p:ext uri="{BB962C8B-B14F-4D97-AF65-F5344CB8AC3E}">
        <p14:creationId xmlns:p14="http://schemas.microsoft.com/office/powerpoint/2010/main" val="817513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E48E2-3467-4422-A54E-F179CB2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80120b7248d3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FC797-69F7-4B13-AA12-E647B9A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INTEROPERABILIDADE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F20B-54B4-4974-8196-58AE777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75BD9-412A-481A-856C-0AD4890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ARQUITETURA INSTITUCIONAL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0826-AB52-40FC-AB77-787F120B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Integra por adaptadores, sem aprisionamento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F41D-1065-45FB-8C9B-B6B1DEB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Identidade, SEI! e PNCP entram como conexões governadas — não como dependências do domínio.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39D2-D511-4EB9-9884-FCAF9EE7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8D592-7B72-4AB5-B98B-9DD53F43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PAC DIGITAL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69FB8-602F-463D-8E9D-BACF5D9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290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9D7DD"/>
                </a:solidFill>
              </a:defRPr>
            </a:pPr>
            <a:r>
              <a:rPr sz="1200" b="0">
                <a:solidFill>
                  <a:srgbClr val="E9D7DD"/>
                </a:solidFill>
              </a:rPr>
              <a:t>núcleo de governança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F6664-C0E3-4D54-8478-7ED14D1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8B3F8-BF03-4BD1-A0E2-9C3D5C2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B72"/>
                </a:solidFill>
              </a:defRPr>
            </a:pPr>
            <a:r>
              <a:rPr sz="1200" b="1">
                <a:solidFill>
                  <a:srgbClr val="315B72"/>
                </a:solidFill>
              </a:rPr>
              <a:t>IDENTIDADE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307AD-A480-4575-9949-872842E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OIDC / LDAP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DCCB7-3557-4553-9CFA-7BDB35F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A2E5-DC26-483C-BE2B-B6FAF4BE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2B424-7FF3-4212-80E1-9461010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SEI!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455A8-2363-4367-81AA-DC4765C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SOAP / WSDL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8291C-FC52-4683-871E-CB24091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9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7C674-D26B-4D4C-9CAE-5B9DC15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D2C51-09C8-45C1-B766-CCE6B0CC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PCA / PNCP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8F687-402C-4665-854F-53846D9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payload validado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63796-D064-437D-986B-34D0C8C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6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243D4-AFD3-4C3D-8C72-574B9398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87E15-C69F-469F-9456-088254C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TRANSPARÊNCIA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2E25C-A69B-4A41-812D-5EAAEDE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snapshot + hash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3D8DF-E575-4352-9534-228F735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0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1C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3318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5D577E-CC89-48FE-879E-E4819E7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215fa96f74349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5328-8A57-4316-AAA7-62E9879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SEGURANÇA E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F0937-4ADC-4B01-A32F-53A3CEEE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686B-1A80-4840-A0CD-B0F0665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CONFIANÇA VERIFICÁVEL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73000-842F-44B8-AEDF-61E2A4D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Preparado para ser operado pelo MPRJ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F9C09-82C5-4D9D-A24D-42537A8D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Contêineres, PostgreSQL, CI, healthchecks, backup e recuperação comprovada.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55ACC-4356-4D6E-83D8-CA79EA2C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65B58-37F7-4C88-91FB-7625D6A3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44B7D-16BB-4EFB-ACA4-7B949E9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A576F-E98F-4DE9-A73C-6BB70AE9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Código aberto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73143-1155-4713-924C-EE2C3AA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auditável e transferível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0E143-2C72-43E8-9770-B63B0C1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70AF-2F4C-453A-A82C-4EDA875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C2150-0022-49E3-82F5-A970E0B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38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DFA71-E29C-469A-8A82-84F3F36B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Sem SaaS obrigatório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7A3C8-5F66-4671-9087-196C207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VPS, datacenter ou nuvem institucional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25122-6AAD-4295-A4BE-E85B2E2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3958F-BFD4-4D6E-BF2B-49A4D35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896EE-AE5A-44CE-89A7-CD4E1DDE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F811D-17BC-437E-8195-E96DDE7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Transmissões bloqueadas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BCB33-064F-4651-A413-09E49FEF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SEI/PNCP só após autorização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17101-9CEA-4636-83FE-DC3A792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CB3D0-7142-41E3-AC1F-C8DDDD0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957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B1912-CCDE-4A1E-8089-8BC12F4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76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64B94-58F7-4EBA-9CCB-3F0D614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Restauração validada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8C187-8056-458B-A00A-B68C3B1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backup com checksum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C9499-A262-4E2A-AD82-B7CB7B6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BC29D-8FCD-48BC-BB6D-1712D23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29C72-228B-41AE-8EE9-B75EE87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1493C-B0F3-40BF-AE5A-CC0F408E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Hardening HTTP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6C46B-AD35-467C-A19E-B7BC0A55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76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CSP, rate limit, no-store e correlação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C755A-9EBF-4E99-9035-A369BEB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E7787-EC3E-4B86-A24D-080C059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33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D34DF-4727-497A-BA44-5F1B6C45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149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D75AD-E190-43E2-BA2B-31AFDCC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Separação de dados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B6978-A000-42F0-8044-591554F0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demonstração fictícia × PNCP público</a:t>
            </a:r>
          </a:p>
        </p:txBody>
      </p:sp>
    </p:spTree>
    <p:extLst>
      <p:ext uri="{BB962C8B-B14F-4D97-AF65-F5344CB8AC3E}">
        <p14:creationId xmlns:p14="http://schemas.microsoft.com/office/powerpoint/2010/main" val="310950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43CA2-60B3-488A-9A90-9C733CA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e96e9d4a642d3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A0314-A7B1-47E6-8D22-BF35564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CLAREZA DE ESCOPO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66426-1A40-4337-8BA7-348ACF5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E926-EC5A-4013-BD07-A9DF70DC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PRONTO × DEPENDENTE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59F47-5031-4981-B48A-2E0CA2C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O produto não precisa ser refeito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6A35C-0788-4291-80CD-4EA01F5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que falta para produção são decisões, credenciais e validações institucionais.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4327E-90FE-488E-B376-C70427D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048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C7D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BE5A8-553C-4876-83D0-DEB121E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PRONTO NA 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13AA-BE86-4263-8D05-AC104ED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✓  ciclo completo demonstrável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F8C5B-D313-4AF2-949E-833504B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governança, risco e relatórios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A64F1-5B2D-4DC2-8D7F-3D9C3B2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arquitetura portátil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06E3E-5B68-4F38-BF1A-6DA519A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qualidade e recuperação validadas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26425-0E45-422A-8393-470D3E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19450"/>
            <a:ext cx="5543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E9DB"/>
          </a:solidFill>
          <a:ln xmlns:a="http://schemas.openxmlformats.org/drawingml/2006/main" w="0">
            <a:solidFill>
              <a:srgbClr val="E4CF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E758-C0B1-4FC4-A16F-A551468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DEPENDÊNCIAS DO MPRJ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BF97-0CB0-4199-9149-2536377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→  identidade, perfis e unidades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E3C31-29F2-4B41-AF4E-8D665FE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WSDL/credenciais do SEI!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5F9D9-8869-48EE-AF31-E9EE27C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homologação e credencial PNCP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CE7A0-65BA-4269-BEAA-7579DAB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domínio, observabilidade e aceite</a:t>
            </a:r>
          </a:p>
        </p:txBody>
      </p:sp>
    </p:spTree>
    <p:extLst>
      <p:ext uri="{BB962C8B-B14F-4D97-AF65-F5344CB8AC3E}">
        <p14:creationId xmlns:p14="http://schemas.microsoft.com/office/powerpoint/2010/main" val="2063160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76A0A-4E7C-46BA-AB21-9013728E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366618d144610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C28B0-B058-4CA7-8404-EA3E7F34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PROPOSTA DE DECISÃO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B01A-C3BC-4491-97C9-F4D22E2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FD47-1C78-4974-B522-3B5D566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AF996-EF0E-4F52-9494-0ABC9A4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Autorizar a homologação institucional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BCC5-F1BD-45E7-A73C-3005DC64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Com responsáveis, ambientes de teste e critérios objetivos de aceite.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97CB3-F03D-453E-9E96-04C2E606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F5DEC-2A9A-404F-8CA5-422DAF4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1C32"/>
                </a:solidFill>
              </a:defRPr>
            </a:pPr>
            <a:r>
              <a:rPr sz="1050" b="1">
                <a:solidFill>
                  <a:srgbClr val="681C32"/>
                </a:solidFill>
              </a:rPr>
              <a:t>0–30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96F4B-66C6-4CE4-B528-92D04C9F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Regras + identidade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383B6-1088-4DDC-931F-5472A20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oficina funcional, perfis e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E4E9F-1CBB-4548-AF7E-B103C08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D2E49-C02D-4B46-97F1-CA9DF0A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1C32"/>
                </a:solidFill>
              </a:defRPr>
            </a:pPr>
            <a:r>
              <a:rPr sz="1050" b="1">
                <a:solidFill>
                  <a:srgbClr val="681C32"/>
                </a:solidFill>
              </a:rPr>
              <a:t>31–60 dias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37935-AA37-4FA0-8F1D-EDD624B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SEI! + PNCP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13DD9-E1C6-4A91-A247-51C1868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integrações em homologação, sem produção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D4D15-BCEE-4157-A4A4-ED7F9D2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5C5B-BC5D-4963-94A0-631E65B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9A3A"/>
                </a:solidFill>
              </a:defRPr>
            </a:pPr>
            <a:r>
              <a:rPr sz="1050" b="1">
                <a:solidFill>
                  <a:srgbClr val="C49A3A"/>
                </a:solidFill>
              </a:rPr>
              <a:t>61–90 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16954-9778-4078-A99B-4638EF40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Piloto controlado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C8331-9F41-4194-911A-5B8F3C0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DCE0"/>
                </a:solidFill>
              </a:defRPr>
            </a:pPr>
            <a:r>
              <a:rPr sz="1050" b="0">
                <a:solidFill>
                  <a:srgbClr val="E8DCE0"/>
                </a:solidFill>
              </a:rPr>
              <a:t>aceite, capacitação e decisão de entrada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D43A2-DF9A-43D0-89CF-9885BFC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38800"/>
            <a:ext cx="581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F834E-205F-444B-B5E1-AC964C1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38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Decisão pedida: iniciar homologação com patrocínio institucional</a:t>
            </a:r>
          </a:p>
        </p:txBody>
      </p:sp>
    </p:spTree>
    <p:extLst>
      <p:ext uri="{BB962C8B-B14F-4D97-AF65-F5344CB8AC3E}">
        <p14:creationId xmlns:p14="http://schemas.microsoft.com/office/powerpoint/2010/main" val="1553800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666B-60B3-41D0-B94E-9BE1E1F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2e866d31425b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C12B5-0CB2-4E5A-9A05-E36C6B3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8F39-C62D-430D-ABC2-294D57B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334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planilha à gestão.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intenção à execução.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BA2B-27DC-42BC-8809-28D8CD14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D7DC"/>
                </a:solidFill>
              </a:defRPr>
            </a:pPr>
            <a:r>
              <a:rPr sz="1500" b="0">
                <a:solidFill>
                  <a:srgbClr val="E5D7DC"/>
                </a:solidFill>
              </a:rPr>
              <a:t>Uma plataforma institucional, portátil e pronta para homologação.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22CF9-D63D-451A-B9C1-B8D8712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02B7-FE40-477A-B56F-33041B6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Decisão proposta: autorizar a homologação institucional da v1.0 RC1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911B1-B324-4EC1-8FBC-5661ED1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AB3BB"/>
                </a:solidFill>
              </a:defRPr>
            </a:pPr>
            <a:r>
              <a:rPr sz="975" b="0">
                <a:solidFill>
                  <a:srgbClr val="CAB3BB"/>
                </a:solidFill>
              </a:rPr>
              <a:t>pac.163-176-228-150.sslip.io</a:t>
            </a:r>
          </a:p>
        </p:txBody>
      </p:sp>
    </p:spTree>
    <p:extLst>
      <p:ext uri="{BB962C8B-B14F-4D97-AF65-F5344CB8AC3E}">
        <p14:creationId xmlns:p14="http://schemas.microsoft.com/office/powerpoint/2010/main" val="464013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2026-09-29T08:49:55.7240000Z</dcterms:created>
  <dcterms:modified xsi:type="dcterms:W3CDTF">2026-09-29T08:49:55.7240000Z</dcterms:modified>
</coreProperties>
</file>